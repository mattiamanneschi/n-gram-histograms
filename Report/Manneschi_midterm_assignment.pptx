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8" r:id="rId4"/>
    <p:sldMasterId id="214748366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5" Type="http://schemas.openxmlformats.org/officeDocument/2006/relationships/slide" Target="slides/slide19.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c401739138_2_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g3c401739138_2_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g3c401739138_2_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c401739138_2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c401739138_2_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0" name="Google Shape;150;g3c401739138_2_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c401739138_2_104: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g3c401739138_2_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c401739138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g3c401739138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401739138_2_11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g3c401739138_2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c401739138_0_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g3c401739138_0_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401739138_0_2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g3c401739138_0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c401739138_0_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g3c401739138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c401739138_0_3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g3c401739138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c401739138_0_4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g3c401739138_0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c401739138_0_5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g3c401739138_0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401739138_0_6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g3c401739138_0_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c401739138_2_14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g3c401739138_2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401739138_0_7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g3c401739138_0_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c401739138_0_8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g3c401739138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c401739138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g3c401739138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c401739138_0_10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c401739138_0_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c401739138_0_1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g3c401739138_0_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c401739138_2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g3c401739138_2_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3" name="Google Shape;293;g3c401739138_2_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4.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4.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4.jp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4.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4.jp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pertina">
  <p:cSld name="Copertina">
    <p:bg>
      <p:bgPr>
        <a:solidFill>
          <a:schemeClr val="lt1"/>
        </a:solidFill>
      </p:bgPr>
    </p:bg>
    <p:spTree>
      <p:nvGrpSpPr>
        <p:cNvPr id="51" name="Shape 51"/>
        <p:cNvGrpSpPr/>
        <p:nvPr/>
      </p:nvGrpSpPr>
      <p:grpSpPr>
        <a:xfrm>
          <a:off x="0" y="0"/>
          <a:ext cx="0" cy="0"/>
          <a:chOff x="0" y="0"/>
          <a:chExt cx="0" cy="0"/>
        </a:xfrm>
      </p:grpSpPr>
      <p:sp>
        <p:nvSpPr>
          <p:cNvPr id="52" name="Google Shape;52;p14"/>
          <p:cNvSpPr/>
          <p:nvPr/>
        </p:nvSpPr>
        <p:spPr>
          <a:xfrm>
            <a:off x="0" y="1"/>
            <a:ext cx="9144000" cy="5143500"/>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53" name="Google Shape;53;p14"/>
          <p:cNvSpPr txBox="1"/>
          <p:nvPr>
            <p:ph type="title"/>
          </p:nvPr>
        </p:nvSpPr>
        <p:spPr>
          <a:xfrm>
            <a:off x="1257300" y="1425255"/>
            <a:ext cx="7043738" cy="94289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3500"/>
              <a:buFont typeface="Verdana"/>
              <a:buNone/>
              <a:defRPr b="1" i="0" sz="3500" u="none" cap="none" strike="noStrike">
                <a:solidFill>
                  <a:schemeClr val="lt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4" name="Google Shape;54;p14"/>
          <p:cNvSpPr txBox="1"/>
          <p:nvPr>
            <p:ph idx="1" type="body"/>
          </p:nvPr>
        </p:nvSpPr>
        <p:spPr>
          <a:xfrm>
            <a:off x="1257300" y="2416372"/>
            <a:ext cx="7043738" cy="728663"/>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2500"/>
              <a:buFont typeface="Arial"/>
              <a:buNone/>
              <a:defRPr b="0" i="0" sz="2500" u="none" cap="none" strike="noStrike">
                <a:solidFill>
                  <a:schemeClr val="lt1"/>
                </a:solidFill>
                <a:latin typeface="Verdana"/>
                <a:ea typeface="Verdana"/>
                <a:cs typeface="Verdana"/>
                <a:sym typeface="Verdana"/>
              </a:defRPr>
            </a:lvl1pPr>
            <a:lvl2pPr indent="-419100" lvl="1" marL="9144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2pPr>
            <a:lvl3pPr indent="-419100" lvl="2" marL="13716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3pPr>
            <a:lvl4pPr indent="-419100" lvl="3" marL="18288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4pPr>
            <a:lvl5pPr indent="-419100" lvl="4" marL="22860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5" name="Google Shape;55;p14"/>
          <p:cNvSpPr/>
          <p:nvPr/>
        </p:nvSpPr>
        <p:spPr>
          <a:xfrm>
            <a:off x="0" y="4120157"/>
            <a:ext cx="5379244" cy="26789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56" name="Google Shape;56;p14"/>
          <p:cNvSpPr txBox="1"/>
          <p:nvPr>
            <p:ph idx="2" type="body"/>
          </p:nvPr>
        </p:nvSpPr>
        <p:spPr>
          <a:xfrm>
            <a:off x="1200945" y="4120158"/>
            <a:ext cx="4178299" cy="26789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04C7E"/>
              </a:buClr>
              <a:buSzPts val="2000"/>
              <a:buFont typeface="Arial"/>
              <a:buNone/>
              <a:defRPr b="1" i="0" sz="2000" u="none" cap="none" strike="noStrike">
                <a:solidFill>
                  <a:srgbClr val="004C7E"/>
                </a:solidFill>
                <a:latin typeface="Verdana"/>
                <a:ea typeface="Verdana"/>
                <a:cs typeface="Verdana"/>
                <a:sym typeface="Verdana"/>
              </a:defRPr>
            </a:lvl1pPr>
            <a:lvl2pPr indent="-381000" lvl="1" marL="914400" marR="0" rtl="0" algn="l">
              <a:lnSpc>
                <a:spcPct val="90000"/>
              </a:lnSpc>
              <a:spcBef>
                <a:spcPts val="500"/>
              </a:spcBef>
              <a:spcAft>
                <a:spcPts val="0"/>
              </a:spcAft>
              <a:buClr>
                <a:srgbClr val="004C7E"/>
              </a:buClr>
              <a:buSzPts val="2400"/>
              <a:buFont typeface="Arial"/>
              <a:buChar char="•"/>
              <a:defRPr b="0" i="0" sz="2400" u="none" cap="none" strike="noStrike">
                <a:solidFill>
                  <a:srgbClr val="004C7E"/>
                </a:solidFill>
                <a:latin typeface="Calibri"/>
                <a:ea typeface="Calibri"/>
                <a:cs typeface="Calibri"/>
                <a:sym typeface="Calibri"/>
              </a:defRPr>
            </a:lvl2pPr>
            <a:lvl3pPr indent="-355600" lvl="2" marL="1371600" marR="0" rtl="0" algn="l">
              <a:lnSpc>
                <a:spcPct val="90000"/>
              </a:lnSpc>
              <a:spcBef>
                <a:spcPts val="500"/>
              </a:spcBef>
              <a:spcAft>
                <a:spcPts val="0"/>
              </a:spcAft>
              <a:buClr>
                <a:srgbClr val="004C7E"/>
              </a:buClr>
              <a:buSzPts val="2000"/>
              <a:buFont typeface="Arial"/>
              <a:buChar char="•"/>
              <a:defRPr b="0" i="0" sz="2000" u="none" cap="none" strike="noStrike">
                <a:solidFill>
                  <a:srgbClr val="004C7E"/>
                </a:solidFill>
                <a:latin typeface="Calibri"/>
                <a:ea typeface="Calibri"/>
                <a:cs typeface="Calibri"/>
                <a:sym typeface="Calibri"/>
              </a:defRPr>
            </a:lvl3pPr>
            <a:lvl4pPr indent="-342900" lvl="3" marL="18288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4pPr>
            <a:lvl5pPr indent="-342900" lvl="4" marL="22860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7" name="Google Shape;57;p14"/>
          <p:cNvSpPr txBox="1"/>
          <p:nvPr>
            <p:ph idx="3" type="body"/>
          </p:nvPr>
        </p:nvSpPr>
        <p:spPr>
          <a:xfrm>
            <a:off x="1200944" y="4388048"/>
            <a:ext cx="4178299" cy="26789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1400"/>
              <a:buFont typeface="Arial"/>
              <a:buNone/>
              <a:defRPr b="0" i="0" sz="14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rgbClr val="004C7E"/>
              </a:buClr>
              <a:buSzPts val="2400"/>
              <a:buFont typeface="Arial"/>
              <a:buChar char="•"/>
              <a:defRPr b="0" i="0" sz="2400" u="none" cap="none" strike="noStrike">
                <a:solidFill>
                  <a:srgbClr val="004C7E"/>
                </a:solidFill>
                <a:latin typeface="Calibri"/>
                <a:ea typeface="Calibri"/>
                <a:cs typeface="Calibri"/>
                <a:sym typeface="Calibri"/>
              </a:defRPr>
            </a:lvl2pPr>
            <a:lvl3pPr indent="-355600" lvl="2" marL="1371600" marR="0" rtl="0" algn="l">
              <a:lnSpc>
                <a:spcPct val="90000"/>
              </a:lnSpc>
              <a:spcBef>
                <a:spcPts val="500"/>
              </a:spcBef>
              <a:spcAft>
                <a:spcPts val="0"/>
              </a:spcAft>
              <a:buClr>
                <a:srgbClr val="004C7E"/>
              </a:buClr>
              <a:buSzPts val="2000"/>
              <a:buFont typeface="Arial"/>
              <a:buChar char="•"/>
              <a:defRPr b="0" i="0" sz="2000" u="none" cap="none" strike="noStrike">
                <a:solidFill>
                  <a:srgbClr val="004C7E"/>
                </a:solidFill>
                <a:latin typeface="Calibri"/>
                <a:ea typeface="Calibri"/>
                <a:cs typeface="Calibri"/>
                <a:sym typeface="Calibri"/>
              </a:defRPr>
            </a:lvl3pPr>
            <a:lvl4pPr indent="-342900" lvl="3" marL="18288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4pPr>
            <a:lvl5pPr indent="-342900" lvl="4" marL="22860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58" name="Google Shape;58;p14"/>
          <p:cNvPicPr preferRelativeResize="0"/>
          <p:nvPr/>
        </p:nvPicPr>
        <p:blipFill rotWithShape="1">
          <a:blip r:embed="rId2">
            <a:alphaModFix/>
          </a:blip>
          <a:srcRect b="0" l="0" r="0" t="0"/>
          <a:stretch/>
        </p:blipFill>
        <p:spPr>
          <a:xfrm>
            <a:off x="7556500" y="0"/>
            <a:ext cx="1190625" cy="1028700"/>
          </a:xfrm>
          <a:prstGeom prst="rect">
            <a:avLst/>
          </a:prstGeom>
          <a:noFill/>
          <a:ln>
            <a:noFill/>
          </a:ln>
        </p:spPr>
      </p:pic>
      <p:pic>
        <p:nvPicPr>
          <p:cNvPr descr="Università degli Studi di Firenze. Da un secolo, oltre." id="59" name="Google Shape;59;p14"/>
          <p:cNvPicPr preferRelativeResize="0"/>
          <p:nvPr/>
        </p:nvPicPr>
        <p:blipFill rotWithShape="1">
          <a:blip r:embed="rId3">
            <a:alphaModFix/>
          </a:blip>
          <a:srcRect b="38749" l="19823" r="23529" t="35186"/>
          <a:stretch/>
        </p:blipFill>
        <p:spPr>
          <a:xfrm>
            <a:off x="268284" y="113876"/>
            <a:ext cx="2244925" cy="1032924"/>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arola chiave">
  <p:cSld name="Parola chiave">
    <p:bg>
      <p:bgPr>
        <a:solidFill>
          <a:schemeClr val="lt1"/>
        </a:solidFill>
      </p:bgPr>
    </p:bg>
    <p:spTree>
      <p:nvGrpSpPr>
        <p:cNvPr id="60" name="Shape 60"/>
        <p:cNvGrpSpPr/>
        <p:nvPr/>
      </p:nvGrpSpPr>
      <p:grpSpPr>
        <a:xfrm>
          <a:off x="0" y="0"/>
          <a:ext cx="0" cy="0"/>
          <a:chOff x="0" y="0"/>
          <a:chExt cx="0" cy="0"/>
        </a:xfrm>
      </p:grpSpPr>
      <p:sp>
        <p:nvSpPr>
          <p:cNvPr id="61" name="Google Shape;61;p15"/>
          <p:cNvSpPr/>
          <p:nvPr/>
        </p:nvSpPr>
        <p:spPr>
          <a:xfrm>
            <a:off x="0" y="1"/>
            <a:ext cx="9144000" cy="5143500"/>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62" name="Google Shape;62;p15"/>
          <p:cNvSpPr txBox="1"/>
          <p:nvPr>
            <p:ph type="title"/>
          </p:nvPr>
        </p:nvSpPr>
        <p:spPr>
          <a:xfrm>
            <a:off x="1257300" y="1425255"/>
            <a:ext cx="7043738" cy="1146495"/>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4000"/>
              <a:buFont typeface="Verdana"/>
              <a:buNone/>
              <a:defRPr b="1" i="0" sz="4000" u="none" cap="none" strike="noStrike">
                <a:solidFill>
                  <a:schemeClr val="lt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descr="HR Excellence in Research" id="63" name="Google Shape;63;p15"/>
          <p:cNvPicPr preferRelativeResize="0"/>
          <p:nvPr/>
        </p:nvPicPr>
        <p:blipFill rotWithShape="1">
          <a:blip r:embed="rId2">
            <a:alphaModFix/>
          </a:blip>
          <a:srcRect b="0" l="0" r="0" t="0"/>
          <a:stretch/>
        </p:blipFill>
        <p:spPr>
          <a:xfrm>
            <a:off x="7556500" y="0"/>
            <a:ext cx="1190625" cy="1028700"/>
          </a:xfrm>
          <a:prstGeom prst="rect">
            <a:avLst/>
          </a:prstGeom>
          <a:noFill/>
          <a:ln>
            <a:noFill/>
          </a:ln>
        </p:spPr>
      </p:pic>
      <p:pic>
        <p:nvPicPr>
          <p:cNvPr descr="Università degli Studi di Firenze. Da un secolo, oltre." id="64" name="Google Shape;64;p15"/>
          <p:cNvPicPr preferRelativeResize="0"/>
          <p:nvPr/>
        </p:nvPicPr>
        <p:blipFill rotWithShape="1">
          <a:blip r:embed="rId3">
            <a:alphaModFix/>
          </a:blip>
          <a:srcRect b="38749" l="19823" r="23529" t="35186"/>
          <a:stretch/>
        </p:blipFill>
        <p:spPr>
          <a:xfrm>
            <a:off x="268284" y="113876"/>
            <a:ext cx="2244925" cy="1032924"/>
          </a:xfrm>
          <a:prstGeom prst="rect">
            <a:avLst/>
          </a:prstGeom>
          <a:noFill/>
          <a:ln>
            <a:noFill/>
          </a:ln>
        </p:spPr>
      </p:pic>
      <p:pic>
        <p:nvPicPr>
          <p:cNvPr descr="Immagine che contiene blu, schermata, Blu elettrico, Blu intenso&#10;&#10;Descrizione generata automaticamente" id="65" name="Google Shape;65;p15"/>
          <p:cNvPicPr preferRelativeResize="0"/>
          <p:nvPr/>
        </p:nvPicPr>
        <p:blipFill rotWithShape="1">
          <a:blip r:embed="rId4">
            <a:alphaModFix/>
          </a:blip>
          <a:srcRect b="0" l="0" r="0" t="0"/>
          <a:stretch/>
        </p:blipFill>
        <p:spPr>
          <a:xfrm>
            <a:off x="2457013" y="2796520"/>
            <a:ext cx="5015240" cy="234698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solo testo">
  <p:cSld name="Interna_solo testo">
    <p:spTree>
      <p:nvGrpSpPr>
        <p:cNvPr id="66" name="Shape 66"/>
        <p:cNvGrpSpPr/>
        <p:nvPr/>
      </p:nvGrpSpPr>
      <p:grpSpPr>
        <a:xfrm>
          <a:off x="0" y="0"/>
          <a:ext cx="0" cy="0"/>
          <a:chOff x="0" y="0"/>
          <a:chExt cx="0" cy="0"/>
        </a:xfrm>
      </p:grpSpPr>
      <p:sp>
        <p:nvSpPr>
          <p:cNvPr id="67" name="Google Shape;67;p16"/>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68" name="Google Shape;68;p16"/>
          <p:cNvSpPr txBox="1"/>
          <p:nvPr>
            <p:ph idx="1"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16"/>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70" name="Google Shape;70;p16"/>
          <p:cNvSpPr txBox="1"/>
          <p:nvPr>
            <p:ph idx="2" type="body"/>
          </p:nvPr>
        </p:nvSpPr>
        <p:spPr>
          <a:xfrm>
            <a:off x="714375" y="1361237"/>
            <a:ext cx="8103948" cy="3352538"/>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50000"/>
              </a:lnSpc>
              <a:spcBef>
                <a:spcPts val="1000"/>
              </a:spcBef>
              <a:spcAft>
                <a:spcPts val="0"/>
              </a:spcAft>
              <a:buClr>
                <a:schemeClr val="dk1"/>
              </a:buClr>
              <a:buSzPts val="1800"/>
              <a:buFont typeface="Courier New"/>
              <a:buNone/>
              <a:defRPr b="0" i="0" sz="1800" u="none" cap="none" strike="noStrike">
                <a:solidFill>
                  <a:schemeClr val="dk1"/>
                </a:solidFill>
                <a:latin typeface="Verdana"/>
                <a:ea typeface="Verdana"/>
                <a:cs typeface="Verdana"/>
                <a:sym typeface="Verdana"/>
              </a:defRPr>
            </a:lvl1pPr>
            <a:lvl2pPr indent="-342900" lvl="1" marL="9144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2pPr>
            <a:lvl3pPr indent="-342900" lvl="2" marL="13716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3pPr>
            <a:lvl4pPr indent="-342900" lvl="3" marL="18288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4pPr>
            <a:lvl5pPr indent="-342900" lvl="4" marL="22860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1" name="Google Shape;71;p16"/>
          <p:cNvSpPr txBox="1"/>
          <p:nvPr>
            <p:ph type="title"/>
          </p:nvPr>
        </p:nvSpPr>
        <p:spPr>
          <a:xfrm>
            <a:off x="714375" y="713183"/>
            <a:ext cx="8103948"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descr="HR Excellence in Research" id="72" name="Google Shape;72;p16"/>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73" name="Google Shape;73;p16"/>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tabella">
  <p:cSld name="Interna_tabella">
    <p:spTree>
      <p:nvGrpSpPr>
        <p:cNvPr id="74" name="Shape 74"/>
        <p:cNvGrpSpPr/>
        <p:nvPr/>
      </p:nvGrpSpPr>
      <p:grpSpPr>
        <a:xfrm>
          <a:off x="0" y="0"/>
          <a:ext cx="0" cy="0"/>
          <a:chOff x="0" y="0"/>
          <a:chExt cx="0" cy="0"/>
        </a:xfrm>
      </p:grpSpPr>
      <p:sp>
        <p:nvSpPr>
          <p:cNvPr id="75" name="Google Shape;75;p17"/>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76" name="Google Shape;76;p17"/>
          <p:cNvSpPr txBox="1"/>
          <p:nvPr>
            <p:ph type="title"/>
          </p:nvPr>
        </p:nvSpPr>
        <p:spPr>
          <a:xfrm>
            <a:off x="714375" y="713183"/>
            <a:ext cx="8193322"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7" name="Google Shape;77;p17"/>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78" name="Google Shape;78;p17"/>
          <p:cNvSpPr/>
          <p:nvPr>
            <p:ph idx="2" type="tbl"/>
          </p:nvPr>
        </p:nvSpPr>
        <p:spPr>
          <a:xfrm>
            <a:off x="714375" y="1510398"/>
            <a:ext cx="8193088" cy="3231862"/>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2500"/>
              <a:buFont typeface="Verdana"/>
              <a:buNone/>
              <a:defRPr b="0" i="0" sz="2500" u="none" cap="none" strike="noStrike">
                <a:solidFill>
                  <a:schemeClr val="dk1"/>
                </a:solidFill>
                <a:latin typeface="Verdana"/>
                <a:ea typeface="Verdana"/>
                <a:cs typeface="Verdana"/>
                <a:sym typeface="Verdana"/>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9" name="Google Shape;79;p17"/>
          <p:cNvSpPr txBox="1"/>
          <p:nvPr>
            <p:ph idx="1"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80" name="Google Shape;80;p17"/>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81" name="Google Shape;81;p17"/>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Interna_immagine">
  <p:cSld name="1_Interna_immagine">
    <p:spTree>
      <p:nvGrpSpPr>
        <p:cNvPr id="82" name="Shape 82"/>
        <p:cNvGrpSpPr/>
        <p:nvPr/>
      </p:nvGrpSpPr>
      <p:grpSpPr>
        <a:xfrm>
          <a:off x="0" y="0"/>
          <a:ext cx="0" cy="0"/>
          <a:chOff x="0" y="0"/>
          <a:chExt cx="0" cy="0"/>
        </a:xfrm>
      </p:grpSpPr>
      <p:sp>
        <p:nvSpPr>
          <p:cNvPr id="83" name="Google Shape;83;p18"/>
          <p:cNvSpPr/>
          <p:nvPr>
            <p:ph idx="2" type="pic"/>
          </p:nvPr>
        </p:nvSpPr>
        <p:spPr>
          <a:xfrm>
            <a:off x="1" y="1439853"/>
            <a:ext cx="9144000" cy="3355389"/>
          </a:xfrm>
          <a:prstGeom prst="rect">
            <a:avLst/>
          </a:prstGeom>
          <a:noFill/>
          <a:ln>
            <a:noFill/>
          </a:ln>
        </p:spPr>
      </p:sp>
      <p:sp>
        <p:nvSpPr>
          <p:cNvPr id="84" name="Google Shape;84;p18"/>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85" name="Google Shape;85;p18"/>
          <p:cNvSpPr txBox="1"/>
          <p:nvPr>
            <p:ph type="title"/>
          </p:nvPr>
        </p:nvSpPr>
        <p:spPr>
          <a:xfrm>
            <a:off x="714375" y="713183"/>
            <a:ext cx="8193322"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6" name="Google Shape;86;p18"/>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87" name="Google Shape;87;p18"/>
          <p:cNvSpPr txBox="1"/>
          <p:nvPr>
            <p:ph idx="1"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8" name="Google Shape;88;p18"/>
          <p:cNvSpPr txBox="1"/>
          <p:nvPr>
            <p:ph idx="3" type="body"/>
          </p:nvPr>
        </p:nvSpPr>
        <p:spPr>
          <a:xfrm>
            <a:off x="1" y="3777259"/>
            <a:ext cx="5399999" cy="604241"/>
          </a:xfrm>
          <a:prstGeom prst="rect">
            <a:avLst/>
          </a:prstGeom>
          <a:solidFill>
            <a:srgbClr val="004C7E">
              <a:alpha val="55686"/>
            </a:srgbClr>
          </a:solidFill>
          <a:ln>
            <a:noFill/>
          </a:ln>
        </p:spPr>
        <p:txBody>
          <a:bodyPr anchorCtr="0" anchor="t" bIns="45700" lIns="91425" spcFirstLastPara="1" rIns="91425" wrap="square" tIns="45700">
            <a:noAutofit/>
          </a:bodyPr>
          <a:lstStyle>
            <a:lvl1pPr indent="-228600" lvl="0" marL="457200" marR="0" rtl="0" algn="l">
              <a:lnSpc>
                <a:spcPct val="100000"/>
              </a:lnSpc>
              <a:spcBef>
                <a:spcPts val="1000"/>
              </a:spcBef>
              <a:spcAft>
                <a:spcPts val="0"/>
              </a:spcAft>
              <a:buClr>
                <a:schemeClr val="lt1"/>
              </a:buClr>
              <a:buSzPts val="1500"/>
              <a:buFont typeface="Arial"/>
              <a:buNone/>
              <a:defRPr b="1" i="0" sz="15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89" name="Google Shape;89;p18"/>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90" name="Google Shape;90;p18"/>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immagine+testo">
  <p:cSld name="Interna_immagine+testo">
    <p:spTree>
      <p:nvGrpSpPr>
        <p:cNvPr id="91" name="Shape 91"/>
        <p:cNvGrpSpPr/>
        <p:nvPr/>
      </p:nvGrpSpPr>
      <p:grpSpPr>
        <a:xfrm>
          <a:off x="0" y="0"/>
          <a:ext cx="0" cy="0"/>
          <a:chOff x="0" y="0"/>
          <a:chExt cx="0" cy="0"/>
        </a:xfrm>
      </p:grpSpPr>
      <p:sp>
        <p:nvSpPr>
          <p:cNvPr id="92" name="Google Shape;92;p19"/>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3" name="Google Shape;93;p19"/>
          <p:cNvSpPr txBox="1"/>
          <p:nvPr>
            <p:ph idx="1" type="body"/>
          </p:nvPr>
        </p:nvSpPr>
        <p:spPr>
          <a:xfrm>
            <a:off x="5790422" y="1439854"/>
            <a:ext cx="3117275" cy="2698433"/>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50000"/>
              </a:lnSpc>
              <a:spcBef>
                <a:spcPts val="1000"/>
              </a:spcBef>
              <a:spcAft>
                <a:spcPts val="0"/>
              </a:spcAft>
              <a:buClr>
                <a:schemeClr val="dk1"/>
              </a:buClr>
              <a:buSzPts val="1800"/>
              <a:buFont typeface="Arial"/>
              <a:buNone/>
              <a:defRPr b="0" i="0" sz="1800" u="none" cap="none" strike="noStrike">
                <a:solidFill>
                  <a:schemeClr val="dk1"/>
                </a:solidFill>
                <a:latin typeface="Verdana"/>
                <a:ea typeface="Verdana"/>
                <a:cs typeface="Verdana"/>
                <a:sym typeface="Verdana"/>
              </a:defRPr>
            </a:lvl1pPr>
            <a:lvl2pPr indent="-314325" lvl="1" marL="9144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2pPr>
            <a:lvl3pPr indent="-314325" lvl="2" marL="13716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3pPr>
            <a:lvl4pPr indent="-314325" lvl="3" marL="18288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4pPr>
            <a:lvl5pPr indent="-314325" lvl="4" marL="22860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4" name="Google Shape;94;p19"/>
          <p:cNvSpPr/>
          <p:nvPr>
            <p:ph idx="2" type="pic"/>
          </p:nvPr>
        </p:nvSpPr>
        <p:spPr>
          <a:xfrm>
            <a:off x="246583" y="1439853"/>
            <a:ext cx="5399999" cy="2598221"/>
          </a:xfrm>
          <a:prstGeom prst="rect">
            <a:avLst/>
          </a:prstGeom>
          <a:noFill/>
          <a:ln>
            <a:noFill/>
          </a:ln>
        </p:spPr>
      </p:sp>
      <p:sp>
        <p:nvSpPr>
          <p:cNvPr id="95" name="Google Shape;95;p19"/>
          <p:cNvSpPr txBox="1"/>
          <p:nvPr>
            <p:ph type="title"/>
          </p:nvPr>
        </p:nvSpPr>
        <p:spPr>
          <a:xfrm>
            <a:off x="714375" y="713183"/>
            <a:ext cx="8193322"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6" name="Google Shape;96;p19"/>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97" name="Google Shape;97;p19"/>
          <p:cNvSpPr txBox="1"/>
          <p:nvPr>
            <p:ph idx="3"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8" name="Google Shape;98;p19"/>
          <p:cNvSpPr txBox="1"/>
          <p:nvPr>
            <p:ph idx="4" type="body"/>
          </p:nvPr>
        </p:nvSpPr>
        <p:spPr>
          <a:xfrm>
            <a:off x="1" y="3777259"/>
            <a:ext cx="5399999" cy="604241"/>
          </a:xfrm>
          <a:prstGeom prst="rect">
            <a:avLst/>
          </a:prstGeom>
          <a:solidFill>
            <a:srgbClr val="004C7E">
              <a:alpha val="69019"/>
            </a:srgbClr>
          </a:solidFill>
          <a:ln>
            <a:noFill/>
          </a:ln>
        </p:spPr>
        <p:txBody>
          <a:bodyPr anchorCtr="0" anchor="t" bIns="45700" lIns="91425" spcFirstLastPara="1" rIns="91425" wrap="square" tIns="45700">
            <a:noAutofit/>
          </a:bodyPr>
          <a:lstStyle>
            <a:lvl1pPr indent="-228600" lvl="0" marL="457200" marR="0" rtl="0" algn="l">
              <a:lnSpc>
                <a:spcPct val="100000"/>
              </a:lnSpc>
              <a:spcBef>
                <a:spcPts val="1000"/>
              </a:spcBef>
              <a:spcAft>
                <a:spcPts val="0"/>
              </a:spcAft>
              <a:buClr>
                <a:schemeClr val="lt1"/>
              </a:buClr>
              <a:buSzPts val="1500"/>
              <a:buFont typeface="Arial"/>
              <a:buNone/>
              <a:defRPr b="0" i="0" sz="15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99" name="Google Shape;99;p19"/>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100" name="Google Shape;100;p19"/>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2 colonne">
  <p:cSld name="Interna_2 colonne">
    <p:spTree>
      <p:nvGrpSpPr>
        <p:cNvPr id="101" name="Shape 101"/>
        <p:cNvGrpSpPr/>
        <p:nvPr/>
      </p:nvGrpSpPr>
      <p:grpSpPr>
        <a:xfrm>
          <a:off x="0" y="0"/>
          <a:ext cx="0" cy="0"/>
          <a:chOff x="0" y="0"/>
          <a:chExt cx="0" cy="0"/>
        </a:xfrm>
      </p:grpSpPr>
      <p:sp>
        <p:nvSpPr>
          <p:cNvPr id="102" name="Google Shape;102;p20"/>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3" name="Google Shape;103;p20"/>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104" name="Google Shape;104;p20"/>
          <p:cNvSpPr txBox="1"/>
          <p:nvPr>
            <p:ph type="title"/>
          </p:nvPr>
        </p:nvSpPr>
        <p:spPr>
          <a:xfrm>
            <a:off x="714375" y="713183"/>
            <a:ext cx="8103948"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05" name="Google Shape;105;p20"/>
          <p:cNvSpPr txBox="1"/>
          <p:nvPr>
            <p:ph idx="1" type="body"/>
          </p:nvPr>
        </p:nvSpPr>
        <p:spPr>
          <a:xfrm>
            <a:off x="714374" y="1883535"/>
            <a:ext cx="3709185" cy="2972333"/>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4325" lvl="1" marL="914400" marR="0" rtl="0" algn="l">
              <a:lnSpc>
                <a:spcPct val="90000"/>
              </a:lnSpc>
              <a:spcBef>
                <a:spcPts val="375"/>
              </a:spcBef>
              <a:spcAft>
                <a:spcPts val="0"/>
              </a:spcAft>
              <a:buClr>
                <a:srgbClr val="595959"/>
              </a:buClr>
              <a:buSzPts val="1350"/>
              <a:buFont typeface="Arial"/>
              <a:buChar char="•"/>
              <a:defRPr b="0" i="0" sz="135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106" name="Google Shape;106;p20"/>
          <p:cNvSpPr txBox="1"/>
          <p:nvPr>
            <p:ph idx="2" type="body"/>
          </p:nvPr>
        </p:nvSpPr>
        <p:spPr>
          <a:xfrm>
            <a:off x="4720441" y="1883535"/>
            <a:ext cx="3793718" cy="2972333"/>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4325" lvl="1" marL="914400" marR="0" rtl="0" algn="l">
              <a:lnSpc>
                <a:spcPct val="90000"/>
              </a:lnSpc>
              <a:spcBef>
                <a:spcPts val="375"/>
              </a:spcBef>
              <a:spcAft>
                <a:spcPts val="0"/>
              </a:spcAft>
              <a:buClr>
                <a:srgbClr val="595959"/>
              </a:buClr>
              <a:buSzPts val="1350"/>
              <a:buFont typeface="Arial"/>
              <a:buChar char="•"/>
              <a:defRPr b="0" i="0" sz="135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107" name="Google Shape;107;p20"/>
          <p:cNvSpPr txBox="1"/>
          <p:nvPr>
            <p:ph idx="3" type="body"/>
          </p:nvPr>
        </p:nvSpPr>
        <p:spPr>
          <a:xfrm>
            <a:off x="713183" y="1434204"/>
            <a:ext cx="3709186" cy="400949"/>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08" name="Google Shape;108;p20"/>
          <p:cNvSpPr txBox="1"/>
          <p:nvPr>
            <p:ph idx="4" type="body"/>
          </p:nvPr>
        </p:nvSpPr>
        <p:spPr>
          <a:xfrm>
            <a:off x="4720441" y="1434203"/>
            <a:ext cx="3793718" cy="400948"/>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cxnSp>
        <p:nvCxnSpPr>
          <p:cNvPr id="109" name="Google Shape;109;p20"/>
          <p:cNvCxnSpPr/>
          <p:nvPr/>
        </p:nvCxnSpPr>
        <p:spPr>
          <a:xfrm>
            <a:off x="4572000" y="1879273"/>
            <a:ext cx="0" cy="2975486"/>
          </a:xfrm>
          <a:prstGeom prst="straightConnector1">
            <a:avLst/>
          </a:prstGeom>
          <a:noFill/>
          <a:ln cap="flat" cmpd="sng" w="12700">
            <a:solidFill>
              <a:srgbClr val="004C7E"/>
            </a:solidFill>
            <a:prstDash val="solid"/>
            <a:miter lim="800000"/>
            <a:headEnd len="sm" w="sm" type="none"/>
            <a:tailEnd len="sm" w="sm" type="none"/>
          </a:ln>
        </p:spPr>
      </p:cxnSp>
      <p:sp>
        <p:nvSpPr>
          <p:cNvPr id="110" name="Google Shape;110;p20"/>
          <p:cNvSpPr txBox="1"/>
          <p:nvPr>
            <p:ph idx="5"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111" name="Google Shape;111;p20"/>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112" name="Google Shape;112;p20"/>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3 colonne">
  <p:cSld name="Interna_3 colonne">
    <p:spTree>
      <p:nvGrpSpPr>
        <p:cNvPr id="113" name="Shape 113"/>
        <p:cNvGrpSpPr/>
        <p:nvPr/>
      </p:nvGrpSpPr>
      <p:grpSpPr>
        <a:xfrm>
          <a:off x="0" y="0"/>
          <a:ext cx="0" cy="0"/>
          <a:chOff x="0" y="0"/>
          <a:chExt cx="0" cy="0"/>
        </a:xfrm>
      </p:grpSpPr>
      <p:sp>
        <p:nvSpPr>
          <p:cNvPr id="114" name="Google Shape;114;p21"/>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5" name="Google Shape;115;p21"/>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116" name="Google Shape;116;p21"/>
          <p:cNvSpPr txBox="1"/>
          <p:nvPr>
            <p:ph type="title"/>
          </p:nvPr>
        </p:nvSpPr>
        <p:spPr>
          <a:xfrm>
            <a:off x="714375" y="713183"/>
            <a:ext cx="8103948"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7" name="Google Shape;117;p21"/>
          <p:cNvSpPr txBox="1"/>
          <p:nvPr>
            <p:ph idx="1" type="body"/>
          </p:nvPr>
        </p:nvSpPr>
        <p:spPr>
          <a:xfrm>
            <a:off x="714375" y="2087133"/>
            <a:ext cx="2242583" cy="2749190"/>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7500" lvl="1" marL="914400" marR="0" rtl="0" algn="l">
              <a:lnSpc>
                <a:spcPct val="90000"/>
              </a:lnSpc>
              <a:spcBef>
                <a:spcPts val="375"/>
              </a:spcBef>
              <a:spcAft>
                <a:spcPts val="0"/>
              </a:spcAft>
              <a:buClr>
                <a:srgbClr val="595959"/>
              </a:buClr>
              <a:buSzPts val="1400"/>
              <a:buFont typeface="Arial"/>
              <a:buChar char="•"/>
              <a:defRPr b="0" i="0" sz="140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118" name="Google Shape;118;p21"/>
          <p:cNvSpPr txBox="1"/>
          <p:nvPr>
            <p:ph idx="2" type="body"/>
          </p:nvPr>
        </p:nvSpPr>
        <p:spPr>
          <a:xfrm>
            <a:off x="3408443" y="2087133"/>
            <a:ext cx="2327115" cy="2749190"/>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7500" lvl="1" marL="914400" marR="0" rtl="0" algn="l">
              <a:lnSpc>
                <a:spcPct val="90000"/>
              </a:lnSpc>
              <a:spcBef>
                <a:spcPts val="375"/>
              </a:spcBef>
              <a:spcAft>
                <a:spcPts val="0"/>
              </a:spcAft>
              <a:buClr>
                <a:srgbClr val="595959"/>
              </a:buClr>
              <a:buSzPts val="1400"/>
              <a:buFont typeface="Arial"/>
              <a:buChar char="•"/>
              <a:defRPr b="0" i="0" sz="140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119" name="Google Shape;119;p21"/>
          <p:cNvSpPr txBox="1"/>
          <p:nvPr>
            <p:ph idx="3" type="body"/>
          </p:nvPr>
        </p:nvSpPr>
        <p:spPr>
          <a:xfrm>
            <a:off x="6187046" y="2087133"/>
            <a:ext cx="2327115" cy="2749190"/>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7500" lvl="1" marL="914400" marR="0" rtl="0" algn="l">
              <a:lnSpc>
                <a:spcPct val="90000"/>
              </a:lnSpc>
              <a:spcBef>
                <a:spcPts val="375"/>
              </a:spcBef>
              <a:spcAft>
                <a:spcPts val="0"/>
              </a:spcAft>
              <a:buClr>
                <a:srgbClr val="595959"/>
              </a:buClr>
              <a:buSzPts val="1400"/>
              <a:buFont typeface="Arial"/>
              <a:buChar char="•"/>
              <a:defRPr b="0" i="0" sz="140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120" name="Google Shape;120;p21"/>
          <p:cNvSpPr txBox="1"/>
          <p:nvPr>
            <p:ph idx="4" type="body"/>
          </p:nvPr>
        </p:nvSpPr>
        <p:spPr>
          <a:xfrm>
            <a:off x="713184" y="1431580"/>
            <a:ext cx="2242583" cy="571500"/>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1" name="Google Shape;121;p21"/>
          <p:cNvSpPr txBox="1"/>
          <p:nvPr>
            <p:ph idx="5" type="body"/>
          </p:nvPr>
        </p:nvSpPr>
        <p:spPr>
          <a:xfrm>
            <a:off x="3408443" y="1431579"/>
            <a:ext cx="2327115" cy="571500"/>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2" name="Google Shape;122;p21"/>
          <p:cNvSpPr txBox="1"/>
          <p:nvPr>
            <p:ph idx="6" type="body"/>
          </p:nvPr>
        </p:nvSpPr>
        <p:spPr>
          <a:xfrm>
            <a:off x="6187046" y="1431579"/>
            <a:ext cx="2327115" cy="571500"/>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cxnSp>
        <p:nvCxnSpPr>
          <p:cNvPr id="123" name="Google Shape;123;p21"/>
          <p:cNvCxnSpPr/>
          <p:nvPr/>
        </p:nvCxnSpPr>
        <p:spPr>
          <a:xfrm>
            <a:off x="3188525" y="2082871"/>
            <a:ext cx="0" cy="2752106"/>
          </a:xfrm>
          <a:prstGeom prst="straightConnector1">
            <a:avLst/>
          </a:prstGeom>
          <a:noFill/>
          <a:ln cap="flat" cmpd="sng" w="12700">
            <a:solidFill>
              <a:srgbClr val="004C7E"/>
            </a:solidFill>
            <a:prstDash val="solid"/>
            <a:miter lim="800000"/>
            <a:headEnd len="sm" w="sm" type="none"/>
            <a:tailEnd len="sm" w="sm" type="none"/>
          </a:ln>
        </p:spPr>
      </p:cxnSp>
      <p:cxnSp>
        <p:nvCxnSpPr>
          <p:cNvPr id="124" name="Google Shape;124;p21"/>
          <p:cNvCxnSpPr/>
          <p:nvPr/>
        </p:nvCxnSpPr>
        <p:spPr>
          <a:xfrm>
            <a:off x="5956960" y="2082871"/>
            <a:ext cx="0" cy="2752106"/>
          </a:xfrm>
          <a:prstGeom prst="straightConnector1">
            <a:avLst/>
          </a:prstGeom>
          <a:noFill/>
          <a:ln cap="flat" cmpd="sng" w="12700">
            <a:solidFill>
              <a:srgbClr val="004C7E"/>
            </a:solidFill>
            <a:prstDash val="solid"/>
            <a:miter lim="800000"/>
            <a:headEnd len="sm" w="sm" type="none"/>
            <a:tailEnd len="sm" w="sm" type="none"/>
          </a:ln>
        </p:spPr>
      </p:cxnSp>
      <p:sp>
        <p:nvSpPr>
          <p:cNvPr id="125" name="Google Shape;125;p21"/>
          <p:cNvSpPr txBox="1"/>
          <p:nvPr>
            <p:ph idx="7"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126" name="Google Shape;126;p21"/>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127" name="Google Shape;127;p21"/>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rocopertina">
  <p:cSld name="Controcopertina">
    <p:bg>
      <p:bgPr>
        <a:solidFill>
          <a:schemeClr val="lt1"/>
        </a:solidFill>
      </p:bgPr>
    </p:bg>
    <p:spTree>
      <p:nvGrpSpPr>
        <p:cNvPr id="128" name="Shape 128"/>
        <p:cNvGrpSpPr/>
        <p:nvPr/>
      </p:nvGrpSpPr>
      <p:grpSpPr>
        <a:xfrm>
          <a:off x="0" y="0"/>
          <a:ext cx="0" cy="0"/>
          <a:chOff x="0" y="0"/>
          <a:chExt cx="0" cy="0"/>
        </a:xfrm>
      </p:grpSpPr>
      <p:sp>
        <p:nvSpPr>
          <p:cNvPr id="129" name="Google Shape;129;p22"/>
          <p:cNvSpPr/>
          <p:nvPr/>
        </p:nvSpPr>
        <p:spPr>
          <a:xfrm>
            <a:off x="0" y="1"/>
            <a:ext cx="9144000" cy="5143500"/>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30" name="Google Shape;130;p22"/>
          <p:cNvSpPr txBox="1"/>
          <p:nvPr>
            <p:ph idx="1" type="body"/>
          </p:nvPr>
        </p:nvSpPr>
        <p:spPr>
          <a:xfrm>
            <a:off x="248400" y="4956925"/>
            <a:ext cx="7574104" cy="186580"/>
          </a:xfrm>
          <a:prstGeom prst="rect">
            <a:avLst/>
          </a:prstGeom>
          <a:solidFill>
            <a:schemeClr val="lt1"/>
          </a:solid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04C7E"/>
              </a:buClr>
              <a:buSzPts val="1000"/>
              <a:buFont typeface="Arial"/>
              <a:buNone/>
              <a:defRPr b="0" i="0" sz="1000" u="none" cap="none" strike="noStrike">
                <a:solidFill>
                  <a:srgbClr val="004C7E"/>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1" name="Google Shape;131;p22"/>
          <p:cNvSpPr txBox="1"/>
          <p:nvPr>
            <p:ph idx="2" type="body"/>
          </p:nvPr>
        </p:nvSpPr>
        <p:spPr>
          <a:xfrm>
            <a:off x="698598" y="2366728"/>
            <a:ext cx="8261350" cy="35828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3000"/>
              <a:buFont typeface="Arial"/>
              <a:buNone/>
              <a:defRPr b="1" i="0" sz="30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2" name="Google Shape;132;p22"/>
          <p:cNvSpPr txBox="1"/>
          <p:nvPr>
            <p:ph idx="3" type="body"/>
          </p:nvPr>
        </p:nvSpPr>
        <p:spPr>
          <a:xfrm>
            <a:off x="698641" y="2800561"/>
            <a:ext cx="8261306" cy="364762"/>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2500"/>
              <a:buFont typeface="Arial"/>
              <a:buNone/>
              <a:defRPr b="0" i="0" sz="25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3" name="Google Shape;133;p22"/>
          <p:cNvSpPr txBox="1"/>
          <p:nvPr>
            <p:ph idx="4" type="body"/>
          </p:nvPr>
        </p:nvSpPr>
        <p:spPr>
          <a:xfrm>
            <a:off x="698598" y="3468281"/>
            <a:ext cx="6249988" cy="23899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2000"/>
              <a:buFont typeface="Arial"/>
              <a:buNone/>
              <a:defRPr b="0" i="0" sz="20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4" name="Google Shape;134;p22"/>
          <p:cNvSpPr txBox="1"/>
          <p:nvPr>
            <p:ph idx="5" type="body"/>
          </p:nvPr>
        </p:nvSpPr>
        <p:spPr>
          <a:xfrm>
            <a:off x="698643" y="3769616"/>
            <a:ext cx="6249988" cy="210067"/>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1800"/>
              <a:buFont typeface="Arial"/>
              <a:buNone/>
              <a:defRPr b="0" i="0" sz="18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5" name="Google Shape;135;p22"/>
          <p:cNvSpPr txBox="1"/>
          <p:nvPr>
            <p:ph idx="6" type="body"/>
          </p:nvPr>
        </p:nvSpPr>
        <p:spPr>
          <a:xfrm>
            <a:off x="698643" y="4042024"/>
            <a:ext cx="6249988" cy="242373"/>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1800"/>
              <a:buFont typeface="Arial"/>
              <a:buNone/>
              <a:defRPr b="0" i="0" sz="18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6" name="Google Shape;136;p22"/>
          <p:cNvSpPr txBox="1"/>
          <p:nvPr>
            <p:ph type="title"/>
          </p:nvPr>
        </p:nvSpPr>
        <p:spPr>
          <a:xfrm>
            <a:off x="698598" y="1206936"/>
            <a:ext cx="8261306" cy="705915"/>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4500"/>
              <a:buFont typeface="Verdana"/>
              <a:buNone/>
              <a:defRPr b="1" i="0" sz="4500" u="none" cap="none" strike="noStrike">
                <a:solidFill>
                  <a:schemeClr val="lt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descr="HR Excellence in Research" id="137" name="Google Shape;137;p22"/>
          <p:cNvPicPr preferRelativeResize="0"/>
          <p:nvPr/>
        </p:nvPicPr>
        <p:blipFill rotWithShape="1">
          <a:blip r:embed="rId2">
            <a:alphaModFix/>
          </a:blip>
          <a:srcRect b="0" l="0" r="0" t="0"/>
          <a:stretch/>
        </p:blipFill>
        <p:spPr>
          <a:xfrm>
            <a:off x="7822504" y="0"/>
            <a:ext cx="991122" cy="856330"/>
          </a:xfrm>
          <a:prstGeom prst="rect">
            <a:avLst/>
          </a:prstGeom>
          <a:noFill/>
          <a:ln>
            <a:noFill/>
          </a:ln>
        </p:spPr>
      </p:pic>
      <p:pic>
        <p:nvPicPr>
          <p:cNvPr descr="Università degli Studi di Firenze. Da un secolo, oltre." id="138" name="Google Shape;138;p22"/>
          <p:cNvPicPr preferRelativeResize="0"/>
          <p:nvPr/>
        </p:nvPicPr>
        <p:blipFill rotWithShape="1">
          <a:blip r:embed="rId3">
            <a:alphaModFix/>
          </a:blip>
          <a:srcRect b="38749" l="19823" r="23529" t="35186"/>
          <a:stretch/>
        </p:blipFill>
        <p:spPr>
          <a:xfrm>
            <a:off x="175415" y="121728"/>
            <a:ext cx="1619653" cy="745227"/>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0" Type="http://schemas.openxmlformats.org/officeDocument/2006/relationships/theme" Target="../theme/theme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it"/>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3"/>
          <p:cNvSpPr txBox="1"/>
          <p:nvPr>
            <p:ph type="title"/>
          </p:nvPr>
        </p:nvSpPr>
        <p:spPr>
          <a:xfrm>
            <a:off x="1257300" y="1461327"/>
            <a:ext cx="7043700" cy="5481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1"/>
              </a:buClr>
              <a:buSzPts val="3500"/>
              <a:buFont typeface="Verdana"/>
              <a:buNone/>
            </a:pPr>
            <a:r>
              <a:rPr lang="it"/>
              <a:t>N-gram Histogram Computation</a:t>
            </a:r>
            <a:endParaRPr/>
          </a:p>
        </p:txBody>
      </p:sp>
      <p:sp>
        <p:nvSpPr>
          <p:cNvPr id="145" name="Google Shape;145;p23"/>
          <p:cNvSpPr txBox="1"/>
          <p:nvPr>
            <p:ph idx="2" type="body"/>
          </p:nvPr>
        </p:nvSpPr>
        <p:spPr>
          <a:xfrm>
            <a:off x="1257300" y="4079188"/>
            <a:ext cx="5455500" cy="2679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004C7E"/>
              </a:buClr>
              <a:buSzPts val="2000"/>
              <a:buNone/>
            </a:pPr>
            <a:r>
              <a:rPr lang="it"/>
              <a:t>Candidato: Mattia Manneschi</a:t>
            </a:r>
            <a:endParaRPr/>
          </a:p>
        </p:txBody>
      </p:sp>
      <p:sp>
        <p:nvSpPr>
          <p:cNvPr id="146" name="Google Shape;146;p23"/>
          <p:cNvSpPr txBox="1"/>
          <p:nvPr>
            <p:ph type="title"/>
          </p:nvPr>
        </p:nvSpPr>
        <p:spPr>
          <a:xfrm>
            <a:off x="1257300" y="2571750"/>
            <a:ext cx="5793900" cy="4074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lt1"/>
              </a:buClr>
              <a:buSzPts val="3500"/>
              <a:buFont typeface="Verdana"/>
              <a:buNone/>
            </a:pPr>
            <a:r>
              <a:rPr lang="it" sz="2000"/>
              <a:t>Parallel text analysis using OpenMP</a:t>
            </a:r>
            <a:endParaRPr sz="2000"/>
          </a:p>
          <a:p>
            <a:pPr indent="0" lvl="0" marL="0" rtl="0" algn="l">
              <a:lnSpc>
                <a:spcPct val="90000"/>
              </a:lnSpc>
              <a:spcBef>
                <a:spcPts val="0"/>
              </a:spcBef>
              <a:spcAft>
                <a:spcPts val="0"/>
              </a:spcAft>
              <a:buClr>
                <a:schemeClr val="lt1"/>
              </a:buClr>
              <a:buSzPts val="3500"/>
              <a:buFont typeface="Verdana"/>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4"/>
          <p:cNvSpPr txBox="1"/>
          <p:nvPr>
            <p:ph type="title"/>
          </p:nvPr>
        </p:nvSpPr>
        <p:spPr>
          <a:xfrm>
            <a:off x="520051" y="782220"/>
            <a:ext cx="8103900" cy="641025"/>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Introduction - Problem Statement</a:t>
            </a:r>
            <a:endParaRPr/>
          </a:p>
        </p:txBody>
      </p:sp>
      <p:sp>
        <p:nvSpPr>
          <p:cNvPr id="153" name="Google Shape;153;p24"/>
          <p:cNvSpPr txBox="1"/>
          <p:nvPr>
            <p:ph idx="1" type="body"/>
          </p:nvPr>
        </p:nvSpPr>
        <p:spPr>
          <a:xfrm>
            <a:off x="246533" y="4907779"/>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Font typeface="Arial"/>
              <a:buNone/>
            </a:pPr>
            <a:r>
              <a:rPr lang="it"/>
              <a:t>Introduction</a:t>
            </a:r>
            <a:endParaRPr/>
          </a:p>
        </p:txBody>
      </p:sp>
      <p:sp>
        <p:nvSpPr>
          <p:cNvPr id="154" name="Google Shape;154;p24"/>
          <p:cNvSpPr txBox="1"/>
          <p:nvPr/>
        </p:nvSpPr>
        <p:spPr>
          <a:xfrm>
            <a:off x="520050" y="1401897"/>
            <a:ext cx="7438200" cy="319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it" sz="1100">
                <a:solidFill>
                  <a:schemeClr val="dk1"/>
                </a:solidFill>
              </a:rPr>
              <a:t>The Challenge</a:t>
            </a:r>
            <a:r>
              <a:rPr lang="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Computing n-gram frequencies is a computationally intensive task when dealing with massive text corpora (Big Data).</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The primary bottleneck is the </a:t>
            </a:r>
            <a:r>
              <a:rPr b="1" lang="it" sz="1100">
                <a:solidFill>
                  <a:schemeClr val="dk1"/>
                </a:solidFill>
              </a:rPr>
              <a:t>Memory Wall</a:t>
            </a:r>
            <a:r>
              <a:rPr lang="it" sz="1100">
                <a:solidFill>
                  <a:schemeClr val="dk1"/>
                </a:solidFill>
              </a:rPr>
              <a:t>: high frequency of memory accesses (hash map updates) compared to actual computation.</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it" sz="1100">
                <a:solidFill>
                  <a:schemeClr val="dk1"/>
                </a:solidFill>
              </a:rPr>
              <a:t>The Problem</a:t>
            </a:r>
            <a:r>
              <a:rPr lang="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Vocabulary Explosion</a:t>
            </a:r>
            <a:r>
              <a:rPr lang="it" sz="1100">
                <a:solidFill>
                  <a:schemeClr val="dk1"/>
                </a:solidFill>
              </a:rPr>
              <a:t>: As n increases (from bigrams to trigrams), the number of unique sequences grows exponentially, leading to cache misses and high memory consumption.</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Synchronization Overhead</a:t>
            </a:r>
            <a:r>
              <a:rPr lang="it" sz="1100">
                <a:solidFill>
                  <a:schemeClr val="dk1"/>
                </a:solidFill>
              </a:rPr>
              <a:t>: Multiple threads trying to update the same global counter create "contention," slowing down the system.</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it" sz="1100">
                <a:solidFill>
                  <a:schemeClr val="dk1"/>
                </a:solidFill>
              </a:rPr>
              <a:t>Project Goals</a:t>
            </a:r>
            <a:r>
              <a:rPr lang="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Design and implement different parallelization patterns (</a:t>
            </a:r>
            <a:r>
              <a:rPr b="1" lang="it" sz="1100">
                <a:solidFill>
                  <a:schemeClr val="dk1"/>
                </a:solidFill>
              </a:rPr>
              <a:t>OpenMP</a:t>
            </a:r>
            <a:r>
              <a:rPr lang="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Analyze how performance scales with the number of threads and the size of the workload.</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Identify the best strategy based on the n value and the data distribution.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5"/>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Theoretical</a:t>
            </a:r>
            <a:r>
              <a:rPr lang="it"/>
              <a:t> background</a:t>
            </a:r>
            <a:endParaRPr/>
          </a:p>
        </p:txBody>
      </p:sp>
      <p:sp>
        <p:nvSpPr>
          <p:cNvPr id="160" name="Google Shape;160;p25"/>
          <p:cNvSpPr txBox="1"/>
          <p:nvPr>
            <p:ph type="title"/>
          </p:nvPr>
        </p:nvSpPr>
        <p:spPr>
          <a:xfrm>
            <a:off x="520051" y="782220"/>
            <a:ext cx="8103900" cy="641025"/>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Theoretical Background</a:t>
            </a:r>
            <a:endParaRPr/>
          </a:p>
        </p:txBody>
      </p:sp>
      <p:sp>
        <p:nvSpPr>
          <p:cNvPr id="161" name="Google Shape;161;p25"/>
          <p:cNvSpPr txBox="1"/>
          <p:nvPr/>
        </p:nvSpPr>
        <p:spPr>
          <a:xfrm>
            <a:off x="520050" y="1423250"/>
            <a:ext cx="7824600" cy="3306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it" sz="1100">
                <a:solidFill>
                  <a:schemeClr val="dk1"/>
                </a:solidFill>
              </a:rPr>
              <a:t>N-gram Definition</a:t>
            </a:r>
            <a:r>
              <a:rPr lang="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A contiguous sequence of n items from a given sample of text or speech.</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In this project, we focus on </a:t>
            </a:r>
            <a:r>
              <a:rPr b="1" lang="it" sz="1100">
                <a:solidFill>
                  <a:schemeClr val="dk1"/>
                </a:solidFill>
              </a:rPr>
              <a:t>Bigrams</a:t>
            </a:r>
            <a:r>
              <a:rPr lang="it" sz="1100">
                <a:solidFill>
                  <a:schemeClr val="dk1"/>
                </a:solidFill>
              </a:rPr>
              <a:t> (n=2) and </a:t>
            </a:r>
            <a:r>
              <a:rPr b="1" lang="it" sz="1100">
                <a:solidFill>
                  <a:schemeClr val="dk1"/>
                </a:solidFill>
              </a:rPr>
              <a:t>Trigrams</a:t>
            </a:r>
            <a:r>
              <a:rPr lang="it" sz="1100">
                <a:solidFill>
                  <a:schemeClr val="dk1"/>
                </a:solidFill>
              </a:rPr>
              <a:t> (n=3).</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For a text with W words, the number of possible n-grams is W - n + 1.</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it" sz="1100">
                <a:solidFill>
                  <a:schemeClr val="dk1"/>
                </a:solidFill>
              </a:rPr>
              <a:t>Zipf's Law</a:t>
            </a:r>
            <a:r>
              <a:rPr lang="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The frequency of any word (or n-gram) is inversely proportional to its rank in the frequency table:</a:t>
            </a:r>
            <a:endParaRPr sz="1100">
              <a:solidFill>
                <a:schemeClr val="dk1"/>
              </a:solidFill>
            </a:endParaRPr>
          </a:p>
          <a:p>
            <a:pPr indent="0" lvl="0" marL="0" rtl="0" algn="l">
              <a:lnSpc>
                <a:spcPct val="115000"/>
              </a:lnSpc>
              <a:spcBef>
                <a:spcPts val="0"/>
              </a:spcBef>
              <a:spcAft>
                <a:spcPts val="0"/>
              </a:spcAft>
              <a:buNone/>
            </a:pPr>
            <a:r>
              <a:t/>
            </a:r>
            <a:endParaRPr b="1" sz="1100">
              <a:solidFill>
                <a:schemeClr val="dk1"/>
              </a:solidFill>
            </a:endParaRPr>
          </a:p>
          <a:p>
            <a:pPr indent="0" lvl="0" marL="457200" rtl="0" algn="l">
              <a:lnSpc>
                <a:spcPct val="115000"/>
              </a:lnSpc>
              <a:spcBef>
                <a:spcPts val="1200"/>
              </a:spcBef>
              <a:spcAft>
                <a:spcPts val="0"/>
              </a:spcAft>
              <a:buNone/>
            </a:pPr>
            <a:r>
              <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it" sz="1100">
                <a:solidFill>
                  <a:schemeClr val="dk1"/>
                </a:solidFill>
              </a:rPr>
              <a:t>Implication</a:t>
            </a:r>
            <a:r>
              <a:rPr lang="it" sz="1100">
                <a:solidFill>
                  <a:schemeClr val="dk1"/>
                </a:solidFill>
              </a:rPr>
              <a:t>: A few n-grams are extremely common (e.g., "of the"), while the vast majority are very rare.</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it" sz="1100">
                <a:solidFill>
                  <a:schemeClr val="dk1"/>
                </a:solidFill>
              </a:rPr>
              <a:t>Key Statistical Metrics</a:t>
            </a:r>
            <a:r>
              <a:rPr lang="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Hapax legomena</a:t>
            </a:r>
            <a:r>
              <a:rPr lang="it" sz="1100">
                <a:solidFill>
                  <a:schemeClr val="dk1"/>
                </a:solidFill>
              </a:rPr>
              <a:t>: N-grams that appear only once in the entire corpus.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Dis legomena</a:t>
            </a:r>
            <a:r>
              <a:rPr lang="it" sz="1100">
                <a:solidFill>
                  <a:schemeClr val="dk1"/>
                </a:solidFill>
              </a:rPr>
              <a:t>: N-grams that appear exactly twice.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 sz="1100">
                <a:solidFill>
                  <a:schemeClr val="dk1"/>
                </a:solidFill>
              </a:rPr>
              <a:t>These metrics help characterize the sparsity and complexity of the vocabulary.</a:t>
            </a:r>
            <a:endParaRPr/>
          </a:p>
        </p:txBody>
      </p:sp>
      <p:pic>
        <p:nvPicPr>
          <p:cNvPr id="162" name="Google Shape;162;p25" title="CodeCogsEqn.png"/>
          <p:cNvPicPr preferRelativeResize="0"/>
          <p:nvPr/>
        </p:nvPicPr>
        <p:blipFill>
          <a:blip r:embed="rId3">
            <a:alphaModFix/>
          </a:blip>
          <a:stretch>
            <a:fillRect/>
          </a:stretch>
        </p:blipFill>
        <p:spPr>
          <a:xfrm>
            <a:off x="3495875" y="2936725"/>
            <a:ext cx="1872955" cy="47742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6"/>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Architecture</a:t>
            </a:r>
            <a:endParaRPr/>
          </a:p>
        </p:txBody>
      </p:sp>
      <p:sp>
        <p:nvSpPr>
          <p:cNvPr id="168" name="Google Shape;168;p26"/>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Architecture</a:t>
            </a:r>
            <a:endParaRPr/>
          </a:p>
        </p:txBody>
      </p:sp>
      <p:sp>
        <p:nvSpPr>
          <p:cNvPr id="169" name="Google Shape;169;p26"/>
          <p:cNvSpPr txBox="1"/>
          <p:nvPr/>
        </p:nvSpPr>
        <p:spPr>
          <a:xfrm>
            <a:off x="520050" y="1423250"/>
            <a:ext cx="7824600" cy="3111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it" sz="1100">
                <a:solidFill>
                  <a:schemeClr val="dk1"/>
                </a:solidFill>
              </a:rPr>
              <a:t>Hardware Specifications</a:t>
            </a:r>
            <a:r>
              <a:rPr lang="it" sz="1100">
                <a:solidFill>
                  <a:schemeClr val="dk1"/>
                </a:solidFill>
              </a:rPr>
              <a:t>:</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it" sz="1100">
                <a:solidFill>
                  <a:schemeClr val="dk1"/>
                </a:solidFill>
              </a:rPr>
              <a:t>Processor</a:t>
            </a:r>
            <a:r>
              <a:rPr lang="it" sz="1100">
                <a:solidFill>
                  <a:schemeClr val="dk1"/>
                </a:solidFill>
              </a:rPr>
              <a:t>: </a:t>
            </a:r>
            <a:r>
              <a:rPr b="1" lang="it" sz="1100">
                <a:solidFill>
                  <a:schemeClr val="dk1"/>
                </a:solidFill>
              </a:rPr>
              <a:t>AMD Ryzen™ 7 2700X</a:t>
            </a:r>
            <a:r>
              <a:rPr lang="it" sz="1100">
                <a:solidFill>
                  <a:schemeClr val="dk1"/>
                </a:solidFill>
              </a:rPr>
              <a:t> (Zen+ Architecture).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Cores/Threads</a:t>
            </a:r>
            <a:r>
              <a:rPr lang="it" sz="1100">
                <a:solidFill>
                  <a:schemeClr val="dk1"/>
                </a:solidFill>
              </a:rPr>
              <a:t>: </a:t>
            </a:r>
            <a:r>
              <a:rPr b="1" lang="it" sz="1100">
                <a:solidFill>
                  <a:schemeClr val="dk1"/>
                </a:solidFill>
              </a:rPr>
              <a:t>8 Physical Cores, 16 Logical Threads</a:t>
            </a:r>
            <a:r>
              <a:rPr lang="it" sz="1100">
                <a:solidFill>
                  <a:schemeClr val="dk1"/>
                </a:solidFill>
              </a:rPr>
              <a:t> (Simultaneous Multithreading - SMT).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Clock Speed</a:t>
            </a:r>
            <a:r>
              <a:rPr lang="it" sz="1100">
                <a:solidFill>
                  <a:schemeClr val="dk1"/>
                </a:solidFill>
              </a:rPr>
              <a:t>: Base 3.70 GHz, Max Boost up to 4.30 GHz.</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RAM</a:t>
            </a:r>
            <a:r>
              <a:rPr lang="it" sz="1100">
                <a:solidFill>
                  <a:schemeClr val="dk1"/>
                </a:solidFill>
              </a:rPr>
              <a:t>: 32 GB DDR4.</a:t>
            </a:r>
            <a:endParaRPr sz="1100">
              <a:solidFill>
                <a:schemeClr val="dk1"/>
              </a:solidFill>
            </a:endParaRPr>
          </a:p>
          <a:p>
            <a:pPr indent="0" lvl="0" marL="0" rtl="0" algn="l">
              <a:lnSpc>
                <a:spcPct val="115000"/>
              </a:lnSpc>
              <a:spcBef>
                <a:spcPts val="1200"/>
              </a:spcBef>
              <a:spcAft>
                <a:spcPts val="0"/>
              </a:spcAft>
              <a:buNone/>
            </a:pPr>
            <a:r>
              <a:rPr b="1" lang="it" sz="1100">
                <a:solidFill>
                  <a:schemeClr val="dk1"/>
                </a:solidFill>
              </a:rPr>
              <a:t>Memory &amp; Cache Hierarchy</a:t>
            </a:r>
            <a:r>
              <a:rPr lang="it" sz="1100">
                <a:solidFill>
                  <a:schemeClr val="dk1"/>
                </a:solidFill>
              </a:rPr>
              <a:t>:</a:t>
            </a:r>
            <a:endParaRPr sz="1100">
              <a:solidFill>
                <a:schemeClr val="dk1"/>
              </a:solidFill>
            </a:endParaRPr>
          </a:p>
          <a:p>
            <a:pPr indent="0" lvl="0" marL="0" rtl="0" algn="l">
              <a:lnSpc>
                <a:spcPct val="115000"/>
              </a:lnSpc>
              <a:spcBef>
                <a:spcPts val="0"/>
              </a:spcBef>
              <a:spcAft>
                <a:spcPts val="0"/>
              </a:spcAft>
              <a:buNone/>
            </a:pPr>
            <a:r>
              <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L1 Cache</a:t>
            </a:r>
            <a:r>
              <a:rPr lang="it" sz="1100">
                <a:solidFill>
                  <a:schemeClr val="dk1"/>
                </a:solidFill>
              </a:rPr>
              <a:t>: 768 KB.</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L2 Cache</a:t>
            </a:r>
            <a:r>
              <a:rPr lang="it" sz="1100">
                <a:solidFill>
                  <a:schemeClr val="dk1"/>
                </a:solidFill>
              </a:rPr>
              <a:t>: 4 MB.</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it" sz="1100">
                <a:solidFill>
                  <a:schemeClr val="dk1"/>
                </a:solidFill>
              </a:rPr>
              <a:t>L3 Cache (Shared)</a:t>
            </a:r>
            <a:r>
              <a:rPr lang="it" sz="1100">
                <a:solidFill>
                  <a:schemeClr val="dk1"/>
                </a:solidFill>
              </a:rPr>
              <a:t>: </a:t>
            </a:r>
            <a:r>
              <a:rPr b="1" lang="it" sz="1100">
                <a:solidFill>
                  <a:schemeClr val="dk1"/>
                </a:solidFill>
              </a:rPr>
              <a:t>16 MB</a:t>
            </a:r>
            <a:r>
              <a:rPr lang="it" sz="1100">
                <a:solidFill>
                  <a:schemeClr val="dk1"/>
                </a:solidFill>
              </a:rPr>
              <a:t> (Divided into two 8MB CCX clusters).</a:t>
            </a:r>
            <a:endParaRPr sz="1100">
              <a:solidFill>
                <a:schemeClr val="dk1"/>
              </a:solidFill>
            </a:endParaRPr>
          </a:p>
          <a:p>
            <a:pPr indent="0" lvl="0" marL="0" rtl="0" algn="l">
              <a:lnSpc>
                <a:spcPct val="115000"/>
              </a:lnSpc>
              <a:spcBef>
                <a:spcPts val="1200"/>
              </a:spcBef>
              <a:spcAft>
                <a:spcPts val="0"/>
              </a:spcAft>
              <a:buNone/>
            </a:pPr>
            <a:r>
              <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it" sz="1100">
                <a:solidFill>
                  <a:schemeClr val="dk1"/>
                </a:solidFill>
              </a:rPr>
              <a:t>OS</a:t>
            </a:r>
            <a:r>
              <a:rPr lang="it" sz="1100">
                <a:solidFill>
                  <a:schemeClr val="dk1"/>
                </a:solidFill>
              </a:rPr>
              <a:t>: Ubuntu 24.04 LTS.</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7"/>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75" name="Google Shape;175;p27"/>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Sequential</a:t>
            </a:r>
            <a:endParaRPr/>
          </a:p>
        </p:txBody>
      </p:sp>
      <p:sp>
        <p:nvSpPr>
          <p:cNvPr id="176" name="Google Shape;176;p27"/>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The sequential implementation processes the entire corpus in a single thread. For each position in the word array, it constructs the n-gram string and updates a hash map counter. This version serves as the baseline for speedup calculations.</a:t>
            </a:r>
            <a:endParaRPr b="1" sz="1300">
              <a:solidFill>
                <a:schemeClr val="dk1"/>
              </a:solidFill>
            </a:endParaRPr>
          </a:p>
        </p:txBody>
      </p:sp>
      <p:sp>
        <p:nvSpPr>
          <p:cNvPr id="177" name="Google Shape;177;p27"/>
          <p:cNvSpPr txBox="1"/>
          <p:nvPr/>
        </p:nvSpPr>
        <p:spPr>
          <a:xfrm>
            <a:off x="866625" y="1977350"/>
            <a:ext cx="6692700" cy="24012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Histogram count_seq(const std::vector&lt;std::string&gt;&amp; words, const int n_gram_size)</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Histogram 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if (words.size() &lt; static_cast&lt;size_t&gt;(n_gram_size)) return 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(size_t i = 0; i &lt;= words.size() - n_gram_size; ++i)</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std::string n_gram = words[i];</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(int j = 1; j &lt; n_gram_size; ++j)</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n_gram += " " + words[i + j];</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hist[n_gram]++;</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return 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Clr>
                <a:schemeClr val="dk1"/>
              </a:buClr>
              <a:buSzPts val="1100"/>
              <a:buFont typeface="Arial"/>
              <a:buNone/>
            </a:pPr>
            <a:r>
              <a:rPr lang="it" sz="900">
                <a:solidFill>
                  <a:schemeClr val="dk1"/>
                </a:solidFill>
                <a:latin typeface="Times New Roman"/>
                <a:ea typeface="Times New Roman"/>
                <a:cs typeface="Times New Roman"/>
                <a:sym typeface="Times New Roman"/>
              </a:rPr>
              <a:t>}</a:t>
            </a:r>
            <a:endParaRPr sz="1200">
              <a:solidFill>
                <a:schemeClr val="dk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8"/>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83" name="Google Shape;183;p28"/>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Thread Scaling - Single Reader TLS</a:t>
            </a:r>
            <a:endParaRPr/>
          </a:p>
        </p:txBody>
      </p:sp>
      <p:sp>
        <p:nvSpPr>
          <p:cNvPr id="184" name="Google Shape;184;p28"/>
          <p:cNvSpPr txBox="1"/>
          <p:nvPr/>
        </p:nvSpPr>
        <p:spPr>
          <a:xfrm>
            <a:off x="520050" y="1423250"/>
            <a:ext cx="78246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Clr>
                <a:schemeClr val="dk1"/>
              </a:buClr>
              <a:buSzPts val="1100"/>
              <a:buFont typeface="Arial"/>
              <a:buNone/>
            </a:pPr>
            <a:r>
              <a:rPr lang="it" sz="1100">
                <a:solidFill>
                  <a:schemeClr val="dk1"/>
                </a:solidFill>
              </a:rPr>
              <a:t>A single thread reads all documents using #pragma omp single while other threads wait, then all threads process the loaded texts in parallel with thread-local histograms.</a:t>
            </a:r>
            <a:endParaRPr b="1" sz="1300">
              <a:solidFill>
                <a:schemeClr val="dk1"/>
              </a:solidFill>
            </a:endParaRPr>
          </a:p>
        </p:txBody>
      </p:sp>
      <p:sp>
        <p:nvSpPr>
          <p:cNvPr id="185" name="Google Shape;185;p28"/>
          <p:cNvSpPr txBox="1"/>
          <p:nvPr/>
        </p:nvSpPr>
        <p:spPr>
          <a:xfrm>
            <a:off x="866625" y="1977350"/>
            <a:ext cx="6323700" cy="22626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#pragma omp parallel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Histogram thread_hist;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single  // Un solo thread legge</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(auto&amp; doc : directory_iterator("data/Texts"))</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texts.push_back(read_file(doc));</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for schedule(dynamic,1)  // Tutti processano</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(auto&amp; text : texts)</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UpdateHistogram(thread_hist, text, n);</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critical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merge(hist, thread_hist);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Clr>
                <a:schemeClr val="dk1"/>
              </a:buClr>
              <a:buSzPts val="1100"/>
              <a:buFont typeface="Arial"/>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9"/>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91" name="Google Shape;191;p29"/>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Thread Scaling - On the Fly</a:t>
            </a:r>
            <a:endParaRPr/>
          </a:p>
        </p:txBody>
      </p:sp>
      <p:sp>
        <p:nvSpPr>
          <p:cNvPr id="192" name="Google Shape;192;p29"/>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Each thread reads and processes documents independently as they are assigned. This maximizes parallelism but may cause I/O contention on slow storage systems.</a:t>
            </a:r>
            <a:endParaRPr sz="1200">
              <a:solidFill>
                <a:schemeClr val="dk1"/>
              </a:solidFill>
              <a:latin typeface="Times New Roman"/>
              <a:ea typeface="Times New Roman"/>
              <a:cs typeface="Times New Roman"/>
              <a:sym typeface="Times New Roman"/>
            </a:endParaRPr>
          </a:p>
        </p:txBody>
      </p:sp>
      <p:sp>
        <p:nvSpPr>
          <p:cNvPr id="193" name="Google Shape;193;p29"/>
          <p:cNvSpPr txBox="1"/>
          <p:nvPr/>
        </p:nvSpPr>
        <p:spPr>
          <a:xfrm>
            <a:off x="698950" y="2046200"/>
            <a:ext cx="5798100" cy="19857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#pragma omp parallel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Histogram thread_hist;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for schedule(dynamic,1)</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(int i = 0; i &lt; doc_count; i++)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string content = read_file("data/Texts/" + to_string(i) + ".txt");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UpdateHistogram(thread_hist, content, n);</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critical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merge(hist, thread_hist);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0"/>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99" name="Google Shape;199;p30"/>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Thread Scaling - Hybrid Preload TLS</a:t>
            </a:r>
            <a:endParaRPr/>
          </a:p>
        </p:txBody>
      </p:sp>
      <p:sp>
        <p:nvSpPr>
          <p:cNvPr id="200" name="Google Shape;200;p30"/>
          <p:cNvSpPr txBox="1"/>
          <p:nvPr/>
        </p:nvSpPr>
        <p:spPr>
          <a:xfrm>
            <a:off x="520050" y="1423250"/>
            <a:ext cx="78246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100">
                <a:solidFill>
                  <a:schemeClr val="dk1"/>
                </a:solidFill>
              </a:rPr>
              <a:t>Each thread loads documents into its own local vector, then processes them sequentially. This combines parallel I/O with complete thread isolation for both data and histograms.</a:t>
            </a:r>
            <a:endParaRPr sz="1200">
              <a:solidFill>
                <a:schemeClr val="dk1"/>
              </a:solidFill>
              <a:latin typeface="Times New Roman"/>
              <a:ea typeface="Times New Roman"/>
              <a:cs typeface="Times New Roman"/>
              <a:sym typeface="Times New Roman"/>
            </a:endParaRPr>
          </a:p>
        </p:txBody>
      </p:sp>
      <p:sp>
        <p:nvSpPr>
          <p:cNvPr id="201" name="Google Shape;201;p30"/>
          <p:cNvSpPr txBox="1"/>
          <p:nvPr/>
        </p:nvSpPr>
        <p:spPr>
          <a:xfrm>
            <a:off x="698950" y="2046200"/>
            <a:ext cx="5798100" cy="25398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#pragma omp parallel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vector&lt;string&gt; local_texts;</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Histogram thread_hist;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for schedule(dynamic,1)</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(int i = 0; i &lt; doc_count; i++)</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local_texts.push_back(read_file(i));</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(auto&amp; text : local_texts)</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UpdateHistogram(thread_hist, text, n);</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critical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merge(hist, thread_hist);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1"/>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07" name="Google Shape;207;p31"/>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Workload Scaling - Document Level TLS</a:t>
            </a:r>
            <a:endParaRPr/>
          </a:p>
        </p:txBody>
      </p:sp>
      <p:sp>
        <p:nvSpPr>
          <p:cNvPr id="208" name="Google Shape;208;p31"/>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Documents are tokenized in parallel first, then each thread processes a subset of documents using dynamic scheduling. This strategy pre-allocates histogram capacity based on estimated n-gram count.</a:t>
            </a:r>
            <a:endParaRPr sz="1200">
              <a:solidFill>
                <a:schemeClr val="dk1"/>
              </a:solidFill>
              <a:latin typeface="Times New Roman"/>
              <a:ea typeface="Times New Roman"/>
              <a:cs typeface="Times New Roman"/>
              <a:sym typeface="Times New Roman"/>
            </a:endParaRPr>
          </a:p>
        </p:txBody>
      </p:sp>
      <p:sp>
        <p:nvSpPr>
          <p:cNvPr id="209" name="Google Shape;209;p31"/>
          <p:cNvSpPr txBox="1"/>
          <p:nvPr/>
        </p:nvSpPr>
        <p:spPr>
          <a:xfrm>
            <a:off x="698950" y="2046200"/>
            <a:ext cx="5798100" cy="19857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#pragma omp parallel for schedule(dynamic)</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for (int i = 0; i &lt; num_docs; i++)</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tokenized_docs[i] = tokenize(read_file(files[i]));</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#pragma omp parallel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Histogram&amp; my_hist = local_hists[omp_get_thread_num()];</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for schedule(dynamic, 4)</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(int task = 0; task &lt; num_docs * multiplier; task++)</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count_ngrams(tokenized_docs[task % num_docs], my_hist);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2"/>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15" name="Google Shape;215;p32"/>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Workload Scaling - Fine Grained Locking</a:t>
            </a:r>
            <a:endParaRPr/>
          </a:p>
        </p:txBody>
      </p:sp>
      <p:sp>
        <p:nvSpPr>
          <p:cNvPr id="216" name="Google Shape;216;p32"/>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Uses a sharded hash table with 1024 independent shards, each protected by its own OpenMP lock. N-grams are hashed to determine the shard, reducing lock contention compared to a single global lock.</a:t>
            </a:r>
            <a:endParaRPr sz="1200">
              <a:solidFill>
                <a:schemeClr val="dk1"/>
              </a:solidFill>
              <a:latin typeface="Times New Roman"/>
              <a:ea typeface="Times New Roman"/>
              <a:cs typeface="Times New Roman"/>
              <a:sym typeface="Times New Roman"/>
            </a:endParaRPr>
          </a:p>
        </p:txBody>
      </p:sp>
      <p:sp>
        <p:nvSpPr>
          <p:cNvPr id="217" name="Google Shape;217;p32"/>
          <p:cNvSpPr txBox="1"/>
          <p:nvPr/>
        </p:nvSpPr>
        <p:spPr>
          <a:xfrm>
            <a:off x="698950" y="2046200"/>
            <a:ext cx="5798100" cy="22626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size_t chunk_size = max(1000, num_ngrams / (num_threads * 6));</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size_t num_chunks = (num_ngrams + chunk_size - 1) / chunk_size;</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#pragma omp parallel</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Histogram&amp; my_hist = local_hists[omp_get_thread_num()];</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for schedule(dynamic)</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(size_t c = 0; c &lt; num_chunks; c++)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size_t start = c * chunk_size;</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size_t end = min(start + chunk_size, num_ngrams);</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(size_t k = start; k &lt; end; k++)</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my_hist[build_ngram(corpus, k, n)]++;</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3"/>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23" name="Google Shape;223;p33"/>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Workload Scaling - Chunk Based</a:t>
            </a:r>
            <a:endParaRPr/>
          </a:p>
        </p:txBody>
      </p:sp>
      <p:sp>
        <p:nvSpPr>
          <p:cNvPr id="224" name="Google Shape;224;p33"/>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The corpus is divided into chunks with size automatically determined based on thread count. Uses dynamic scheduling for load balancing, with each thread maintaining a local histogram.</a:t>
            </a:r>
            <a:endParaRPr sz="1200">
              <a:solidFill>
                <a:schemeClr val="dk1"/>
              </a:solidFill>
              <a:latin typeface="Times New Roman"/>
              <a:ea typeface="Times New Roman"/>
              <a:cs typeface="Times New Roman"/>
              <a:sym typeface="Times New Roman"/>
            </a:endParaRPr>
          </a:p>
        </p:txBody>
      </p:sp>
      <p:sp>
        <p:nvSpPr>
          <p:cNvPr id="225" name="Google Shape;225;p33"/>
          <p:cNvSpPr txBox="1"/>
          <p:nvPr/>
        </p:nvSpPr>
        <p:spPr>
          <a:xfrm>
            <a:off x="698950" y="2046200"/>
            <a:ext cx="5798100" cy="25860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Calculate adaptive chunk size</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size_t chunk_size = std::max(1000UL, num_ngrams / (num_threads * 6));</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size_t num_chunks = (num_ngrams + chunk_size - 1) / chunk_size;</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#pragma omp parallel num_threads(num_threads)</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Histogram&amp; my_hist = local_hists[omp_get_thread_num()];</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for schedule(dynamic)</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(size_t chunk_id = 0; chunk_id &lt; num_chunks; ++chunk_id)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size_t start = chunk_id * chunk_size;</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size_t end = std::min(start + chunk_size, num_ngrams);</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(size_t k = start; k &lt; end; ++k)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build_ngram_inplace(corpus, k, ngram_size, buffer);</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my_hist[buffer]++;</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4"/>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31" name="Google Shape;231;p34"/>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Tokenization</a:t>
            </a:r>
            <a:endParaRPr/>
          </a:p>
        </p:txBody>
      </p:sp>
      <p:sp>
        <p:nvSpPr>
          <p:cNvPr id="232" name="Google Shape;232;p34"/>
          <p:cNvSpPr txBox="1"/>
          <p:nvPr/>
        </p:nvSpPr>
        <p:spPr>
          <a:xfrm>
            <a:off x="520050" y="1423250"/>
            <a:ext cx="7824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This function converts raw text to a vector of lowercase words, using SIMD vectorization for character processing.</a:t>
            </a:r>
            <a:endParaRPr sz="1200">
              <a:solidFill>
                <a:schemeClr val="dk1"/>
              </a:solidFill>
              <a:latin typeface="Times New Roman"/>
              <a:ea typeface="Times New Roman"/>
              <a:cs typeface="Times New Roman"/>
              <a:sym typeface="Times New Roman"/>
            </a:endParaRPr>
          </a:p>
        </p:txBody>
      </p:sp>
      <p:sp>
        <p:nvSpPr>
          <p:cNvPr id="233" name="Google Shape;233;p34"/>
          <p:cNvSpPr txBox="1"/>
          <p:nvPr/>
        </p:nvSpPr>
        <p:spPr>
          <a:xfrm>
            <a:off x="682175" y="1792550"/>
            <a:ext cx="5798100" cy="3093900"/>
          </a:xfrm>
          <a:prstGeom prst="rect">
            <a:avLst/>
          </a:prstGeom>
          <a:noFill/>
          <a:ln>
            <a:noFill/>
          </a:ln>
        </p:spPr>
        <p:txBody>
          <a:bodyPr anchorCtr="0" anchor="t" bIns="91425" lIns="91425" spcFirstLastPara="1" rIns="91425" wrap="square" tIns="91425">
            <a:spAutoFit/>
          </a:bodyPr>
          <a:lstStyle/>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std::vector&lt;std::string&gt; tokenize_text(const std::string&amp; text)</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std::vector&lt;std::string&gt; words;</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std::string processed_text = text;</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simd</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(size_t i = 0; i &lt; processed_text.length(); ++i)</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processed_text[i] = std::tolower(processed_text[i]);</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#pragma omp simd</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for (size_t i = 0; i &lt; processed_text.length(); ++i)</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char c = processed_text[i];</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if (std::ispunct(c) || c == '\n' || c == '\t')</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processed_text[i] = '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std::stringstream ss(processed_text);</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std::string word;</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while (ss &gt;&gt; word)</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if (!word.empty())</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words.push_back(word);</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    return words;</a:t>
            </a:r>
            <a:endParaRPr sz="1200">
              <a:solidFill>
                <a:schemeClr val="dk1"/>
              </a:solidFill>
              <a:latin typeface="Times New Roman"/>
              <a:ea typeface="Times New Roman"/>
              <a:cs typeface="Times New Roman"/>
              <a:sym typeface="Times New Roman"/>
            </a:endParaRPr>
          </a:p>
          <a:p>
            <a:pPr indent="0" lvl="0" marL="127000" marR="127000" rtl="0" algn="l">
              <a:spcBef>
                <a:spcPts val="0"/>
              </a:spcBef>
              <a:spcAft>
                <a:spcPts val="0"/>
              </a:spcAft>
              <a:buNone/>
            </a:pPr>
            <a:r>
              <a:rPr lang="it"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5"/>
          <p:cNvSpPr txBox="1"/>
          <p:nvPr>
            <p:ph idx="1" type="body"/>
          </p:nvPr>
        </p:nvSpPr>
        <p:spPr>
          <a:xfrm>
            <a:off x="246583" y="4934254"/>
            <a:ext cx="7590300" cy="187875"/>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39" name="Google Shape;239;p35"/>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a:t>
            </a:r>
            <a:endParaRPr/>
          </a:p>
        </p:txBody>
      </p:sp>
      <p:sp>
        <p:nvSpPr>
          <p:cNvPr id="240" name="Google Shape;240;p35"/>
          <p:cNvSpPr txBox="1"/>
          <p:nvPr/>
        </p:nvSpPr>
        <p:spPr>
          <a:xfrm>
            <a:off x="520050" y="3646200"/>
            <a:ext cx="3516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Clr>
                <a:schemeClr val="dk1"/>
              </a:buClr>
              <a:buSzPts val="1100"/>
              <a:buFont typeface="Arial"/>
              <a:buNone/>
            </a:pPr>
            <a:r>
              <a:rPr lang="it" sz="1200">
                <a:solidFill>
                  <a:schemeClr val="dk1"/>
                </a:solidFill>
                <a:latin typeface="Times New Roman"/>
                <a:ea typeface="Times New Roman"/>
                <a:cs typeface="Times New Roman"/>
                <a:sym typeface="Times New Roman"/>
              </a:rPr>
              <a:t>All three strategies show similar scaling behavior, reaching maximum speedup around 2.5-2.7x with 8-10 threads. The Hybrid-TLS strategy achieves slightly better peak performance (2.7x at 9 threads). Beyond 10 threads, speedup plateaus due to memory bandwidth saturation.</a:t>
            </a:r>
            <a:endParaRPr/>
          </a:p>
        </p:txBody>
      </p:sp>
      <p:pic>
        <p:nvPicPr>
          <p:cNvPr id="241" name="Google Shape;241;p35" title="scaling_speedup.png"/>
          <p:cNvPicPr preferRelativeResize="0"/>
          <p:nvPr/>
        </p:nvPicPr>
        <p:blipFill>
          <a:blip r:embed="rId3">
            <a:alphaModFix/>
          </a:blip>
          <a:stretch>
            <a:fillRect/>
          </a:stretch>
        </p:blipFill>
        <p:spPr>
          <a:xfrm>
            <a:off x="520050" y="1536500"/>
            <a:ext cx="3516168" cy="2109701"/>
          </a:xfrm>
          <a:prstGeom prst="rect">
            <a:avLst/>
          </a:prstGeom>
          <a:noFill/>
          <a:ln>
            <a:noFill/>
          </a:ln>
        </p:spPr>
      </p:pic>
      <p:pic>
        <p:nvPicPr>
          <p:cNvPr id="242" name="Google Shape;242;p35" title="workload_speedup.png"/>
          <p:cNvPicPr preferRelativeResize="0"/>
          <p:nvPr/>
        </p:nvPicPr>
        <p:blipFill>
          <a:blip r:embed="rId4">
            <a:alphaModFix/>
          </a:blip>
          <a:stretch>
            <a:fillRect/>
          </a:stretch>
        </p:blipFill>
        <p:spPr>
          <a:xfrm>
            <a:off x="4410200" y="1536500"/>
            <a:ext cx="3455533" cy="2073320"/>
          </a:xfrm>
          <a:prstGeom prst="rect">
            <a:avLst/>
          </a:prstGeom>
          <a:noFill/>
          <a:ln>
            <a:noFill/>
          </a:ln>
        </p:spPr>
      </p:pic>
      <p:sp>
        <p:nvSpPr>
          <p:cNvPr id="243" name="Google Shape;243;p35"/>
          <p:cNvSpPr txBox="1"/>
          <p:nvPr/>
        </p:nvSpPr>
        <p:spPr>
          <a:xfrm>
            <a:off x="4572000" y="3646200"/>
            <a:ext cx="35163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Document Level achieves the best speedup at high workloads (3.9x at 10x multiplier), followed by Fine-grained-locking (3.3x) and Chunk-based (2.7x). Larger problem sizes better amortize parallelization overhead.</a:t>
            </a:r>
            <a:endParaRPr sz="1200">
              <a:solidFill>
                <a:schemeClr val="dk1"/>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6"/>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49" name="Google Shape;249;p36"/>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 - Statistics</a:t>
            </a:r>
            <a:endParaRPr/>
          </a:p>
        </p:txBody>
      </p:sp>
      <p:sp>
        <p:nvSpPr>
          <p:cNvPr id="250" name="Google Shape;250;p36"/>
          <p:cNvSpPr txBox="1"/>
          <p:nvPr/>
        </p:nvSpPr>
        <p:spPr>
          <a:xfrm>
            <a:off x="520050" y="3818700"/>
            <a:ext cx="75903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The data closely follows the theoretical Zipf distribution. The histogram shows extreme skewness: over 2.3 million bigrams appear only once.</a:t>
            </a:r>
            <a:endParaRPr/>
          </a:p>
        </p:txBody>
      </p:sp>
      <p:pic>
        <p:nvPicPr>
          <p:cNvPr id="251" name="Google Shape;251;p36" title="2gram_zipf.png"/>
          <p:cNvPicPr preferRelativeResize="0"/>
          <p:nvPr/>
        </p:nvPicPr>
        <p:blipFill>
          <a:blip r:embed="rId3">
            <a:alphaModFix/>
          </a:blip>
          <a:stretch>
            <a:fillRect/>
          </a:stretch>
        </p:blipFill>
        <p:spPr>
          <a:xfrm>
            <a:off x="821725" y="1324812"/>
            <a:ext cx="6986947" cy="24938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37"/>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57" name="Google Shape;257;p37"/>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 - Statistics</a:t>
            </a:r>
            <a:endParaRPr/>
          </a:p>
        </p:txBody>
      </p:sp>
      <p:sp>
        <p:nvSpPr>
          <p:cNvPr id="258" name="Google Shape;258;p37"/>
          <p:cNvSpPr txBox="1"/>
          <p:nvPr/>
        </p:nvSpPr>
        <p:spPr>
          <a:xfrm>
            <a:off x="520050" y="3903450"/>
            <a:ext cx="35655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The most frequent bigram is "of the" with 139,216 occurrences, followed by "in the" (80,627) and "to the" (58,091). These function word combinations dominate English text.</a:t>
            </a:r>
            <a:endParaRPr sz="1200">
              <a:solidFill>
                <a:schemeClr val="dk1"/>
              </a:solidFill>
              <a:latin typeface="Times New Roman"/>
              <a:ea typeface="Times New Roman"/>
              <a:cs typeface="Times New Roman"/>
              <a:sym typeface="Times New Roman"/>
            </a:endParaRPr>
          </a:p>
        </p:txBody>
      </p:sp>
      <p:pic>
        <p:nvPicPr>
          <p:cNvPr id="259" name="Google Shape;259;p37" title="2gram_top20.png"/>
          <p:cNvPicPr preferRelativeResize="0"/>
          <p:nvPr/>
        </p:nvPicPr>
        <p:blipFill>
          <a:blip r:embed="rId3">
            <a:alphaModFix/>
          </a:blip>
          <a:stretch>
            <a:fillRect/>
          </a:stretch>
        </p:blipFill>
        <p:spPr>
          <a:xfrm>
            <a:off x="520050" y="1526450"/>
            <a:ext cx="3565485" cy="2376999"/>
          </a:xfrm>
          <a:prstGeom prst="rect">
            <a:avLst/>
          </a:prstGeom>
          <a:noFill/>
          <a:ln>
            <a:noFill/>
          </a:ln>
        </p:spPr>
      </p:pic>
      <p:pic>
        <p:nvPicPr>
          <p:cNvPr id="260" name="Google Shape;260;p37" title="2gram_summary.png"/>
          <p:cNvPicPr preferRelativeResize="0"/>
          <p:nvPr/>
        </p:nvPicPr>
        <p:blipFill>
          <a:blip r:embed="rId4">
            <a:alphaModFix/>
          </a:blip>
          <a:stretch>
            <a:fillRect/>
          </a:stretch>
        </p:blipFill>
        <p:spPr>
          <a:xfrm>
            <a:off x="4305742" y="1526450"/>
            <a:ext cx="3692781" cy="2321100"/>
          </a:xfrm>
          <a:prstGeom prst="rect">
            <a:avLst/>
          </a:prstGeom>
          <a:noFill/>
          <a:ln>
            <a:noFill/>
          </a:ln>
        </p:spPr>
      </p:pic>
      <p:sp>
        <p:nvSpPr>
          <p:cNvPr id="261" name="Google Shape;261;p37"/>
          <p:cNvSpPr txBox="1"/>
          <p:nvPr/>
        </p:nvSpPr>
        <p:spPr>
          <a:xfrm>
            <a:off x="4305750" y="3950675"/>
            <a:ext cx="3692700" cy="554100"/>
          </a:xfrm>
          <a:prstGeom prst="rect">
            <a:avLst/>
          </a:prstGeom>
          <a:noFill/>
          <a:ln>
            <a:noFill/>
          </a:ln>
        </p:spPr>
        <p:txBody>
          <a:bodyPr anchorCtr="0" anchor="t" bIns="91425" lIns="91425" spcFirstLastPara="1" rIns="91425" wrap="square" tIns="91425">
            <a:spAutoFit/>
          </a:bodyPr>
          <a:lstStyle/>
          <a:p>
            <a:pPr indent="0" lvl="0" marL="0" rtl="0" algn="l">
              <a:spcBef>
                <a:spcPts val="400"/>
              </a:spcBef>
              <a:spcAft>
                <a:spcPts val="1000"/>
              </a:spcAft>
              <a:buNone/>
            </a:pPr>
            <a:r>
              <a:rPr lang="it" sz="1200">
                <a:solidFill>
                  <a:schemeClr val="dk1"/>
                </a:solidFill>
                <a:latin typeface="Times New Roman"/>
                <a:ea typeface="Times New Roman"/>
                <a:cs typeface="Times New Roman"/>
                <a:sym typeface="Times New Roman"/>
              </a:rPr>
              <a:t>Key statistics: 18,461,127 total tokens, 3,411,552 unique bigrams, 67.9% hapax ratio, mean frequency 5.41.                 </a:t>
            </a:r>
            <a:endParaRPr sz="1200">
              <a:solidFill>
                <a:schemeClr val="dk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38"/>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67" name="Google Shape;267;p38"/>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Trigrams</a:t>
            </a:r>
            <a:endParaRPr/>
          </a:p>
        </p:txBody>
      </p:sp>
      <p:sp>
        <p:nvSpPr>
          <p:cNvPr id="268" name="Google Shape;268;p38"/>
          <p:cNvSpPr txBox="1"/>
          <p:nvPr/>
        </p:nvSpPr>
        <p:spPr>
          <a:xfrm>
            <a:off x="520050" y="3646200"/>
            <a:ext cx="3516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Trigram counting shows speedup values below 1.0 for lower thread counts, indicating the parallel overhead exceeds the benefits. Performance improves gradually, reaching approximately 1.0x speedup at 16 threads. This is due to the much larger vocabulary causing significant hash table overhead and cache misses.</a:t>
            </a:r>
            <a:endParaRPr sz="1200">
              <a:solidFill>
                <a:schemeClr val="dk1"/>
              </a:solidFill>
              <a:latin typeface="Times New Roman"/>
              <a:ea typeface="Times New Roman"/>
              <a:cs typeface="Times New Roman"/>
              <a:sym typeface="Times New Roman"/>
            </a:endParaRPr>
          </a:p>
        </p:txBody>
      </p:sp>
      <p:pic>
        <p:nvPicPr>
          <p:cNvPr id="269" name="Google Shape;269;p38" title="thread_speedup.png"/>
          <p:cNvPicPr preferRelativeResize="0"/>
          <p:nvPr/>
        </p:nvPicPr>
        <p:blipFill rotWithShape="1">
          <a:blip r:embed="rId3">
            <a:alphaModFix/>
          </a:blip>
          <a:srcRect b="0" l="0" r="0" t="0"/>
          <a:stretch/>
        </p:blipFill>
        <p:spPr>
          <a:xfrm>
            <a:off x="520050" y="1536500"/>
            <a:ext cx="3516168" cy="2109701"/>
          </a:xfrm>
          <a:prstGeom prst="rect">
            <a:avLst/>
          </a:prstGeom>
          <a:noFill/>
          <a:ln>
            <a:noFill/>
          </a:ln>
        </p:spPr>
      </p:pic>
      <p:pic>
        <p:nvPicPr>
          <p:cNvPr id="270" name="Google Shape;270;p38" title="workload_speedup.png"/>
          <p:cNvPicPr preferRelativeResize="0"/>
          <p:nvPr/>
        </p:nvPicPr>
        <p:blipFill rotWithShape="1">
          <a:blip r:embed="rId4">
            <a:alphaModFix/>
          </a:blip>
          <a:srcRect b="0" l="0" r="0" t="0"/>
          <a:stretch/>
        </p:blipFill>
        <p:spPr>
          <a:xfrm>
            <a:off x="4410200" y="1536500"/>
            <a:ext cx="3455533" cy="2073320"/>
          </a:xfrm>
          <a:prstGeom prst="rect">
            <a:avLst/>
          </a:prstGeom>
          <a:noFill/>
          <a:ln>
            <a:noFill/>
          </a:ln>
        </p:spPr>
      </p:pic>
      <p:sp>
        <p:nvSpPr>
          <p:cNvPr id="271" name="Google Shape;271;p38"/>
          <p:cNvSpPr txBox="1"/>
          <p:nvPr/>
        </p:nvSpPr>
        <p:spPr>
          <a:xfrm>
            <a:off x="4572000" y="3646200"/>
            <a:ext cx="3516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Fine-grained-locking performs best for trigrams, reaching 1.95x speedup at 10x workload. This strategy better handles the larger vocabulary by distributing lock contention across shards. Document Level and Chunk-based strategies struggle with the merge overhead of 10M+ entry hash tables.</a:t>
            </a:r>
            <a:endParaRPr sz="1200">
              <a:solidFill>
                <a:schemeClr val="dk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9"/>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77" name="Google Shape;277;p39"/>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Trigrams - Statistics</a:t>
            </a:r>
            <a:endParaRPr/>
          </a:p>
        </p:txBody>
      </p:sp>
      <p:sp>
        <p:nvSpPr>
          <p:cNvPr id="278" name="Google Shape;278;p39"/>
          <p:cNvSpPr txBox="1"/>
          <p:nvPr/>
        </p:nvSpPr>
        <p:spPr>
          <a:xfrm>
            <a:off x="520050" y="3818700"/>
            <a:ext cx="75903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Trigrams show steeper Zipf decay than bigrams, with the vast majority appearing only once. The frequency histogram is even more skewed, with over 8.5 million hapax legomena.</a:t>
            </a:r>
            <a:endParaRPr sz="1200">
              <a:solidFill>
                <a:schemeClr val="dk1"/>
              </a:solidFill>
              <a:latin typeface="Times New Roman"/>
              <a:ea typeface="Times New Roman"/>
              <a:cs typeface="Times New Roman"/>
              <a:sym typeface="Times New Roman"/>
            </a:endParaRPr>
          </a:p>
        </p:txBody>
      </p:sp>
      <p:pic>
        <p:nvPicPr>
          <p:cNvPr id="279" name="Google Shape;279;p39" title="3gram_zipf.png"/>
          <p:cNvPicPr preferRelativeResize="0"/>
          <p:nvPr/>
        </p:nvPicPr>
        <p:blipFill rotWithShape="1">
          <a:blip r:embed="rId3">
            <a:alphaModFix/>
          </a:blip>
          <a:srcRect b="0" l="0" r="0" t="0"/>
          <a:stretch/>
        </p:blipFill>
        <p:spPr>
          <a:xfrm>
            <a:off x="821725" y="1324812"/>
            <a:ext cx="6986947" cy="249387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40"/>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85" name="Google Shape;285;p40"/>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 - Statistics</a:t>
            </a:r>
            <a:endParaRPr/>
          </a:p>
        </p:txBody>
      </p:sp>
      <p:sp>
        <p:nvSpPr>
          <p:cNvPr id="286" name="Google Shape;286;p40"/>
          <p:cNvSpPr txBox="1"/>
          <p:nvPr/>
        </p:nvSpPr>
        <p:spPr>
          <a:xfrm>
            <a:off x="520050" y="3903450"/>
            <a:ext cx="35655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The most frequent trigram is "out of the" with 4,058 occurrences, followed by phrases like "one of the" (3,828) and "as well as" (2,794). Unlike bigrams, trigrams show more semantic content.</a:t>
            </a:r>
            <a:endParaRPr sz="1200">
              <a:solidFill>
                <a:schemeClr val="dk1"/>
              </a:solidFill>
              <a:latin typeface="Times New Roman"/>
              <a:ea typeface="Times New Roman"/>
              <a:cs typeface="Times New Roman"/>
              <a:sym typeface="Times New Roman"/>
            </a:endParaRPr>
          </a:p>
        </p:txBody>
      </p:sp>
      <p:pic>
        <p:nvPicPr>
          <p:cNvPr id="287" name="Google Shape;287;p40" title="3gram_top20.png"/>
          <p:cNvPicPr preferRelativeResize="0"/>
          <p:nvPr/>
        </p:nvPicPr>
        <p:blipFill rotWithShape="1">
          <a:blip r:embed="rId3">
            <a:alphaModFix/>
          </a:blip>
          <a:srcRect b="0" l="0" r="0" t="0"/>
          <a:stretch/>
        </p:blipFill>
        <p:spPr>
          <a:xfrm>
            <a:off x="520050" y="1526450"/>
            <a:ext cx="3565485" cy="2376999"/>
          </a:xfrm>
          <a:prstGeom prst="rect">
            <a:avLst/>
          </a:prstGeom>
          <a:noFill/>
          <a:ln>
            <a:noFill/>
          </a:ln>
        </p:spPr>
      </p:pic>
      <p:pic>
        <p:nvPicPr>
          <p:cNvPr id="288" name="Google Shape;288;p40" title="3gram_summary.png"/>
          <p:cNvPicPr preferRelativeResize="0"/>
          <p:nvPr/>
        </p:nvPicPr>
        <p:blipFill>
          <a:blip r:embed="rId4">
            <a:alphaModFix/>
          </a:blip>
          <a:stretch>
            <a:fillRect/>
          </a:stretch>
        </p:blipFill>
        <p:spPr>
          <a:xfrm>
            <a:off x="4305825" y="1526450"/>
            <a:ext cx="3692700" cy="2377001"/>
          </a:xfrm>
          <a:prstGeom prst="rect">
            <a:avLst/>
          </a:prstGeom>
          <a:noFill/>
          <a:ln>
            <a:noFill/>
          </a:ln>
        </p:spPr>
      </p:pic>
      <p:sp>
        <p:nvSpPr>
          <p:cNvPr id="289" name="Google Shape;289;p40"/>
          <p:cNvSpPr txBox="1"/>
          <p:nvPr/>
        </p:nvSpPr>
        <p:spPr>
          <a:xfrm>
            <a:off x="4305750" y="3950675"/>
            <a:ext cx="40362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600"/>
              </a:spcAft>
              <a:buNone/>
            </a:pPr>
            <a:r>
              <a:rPr lang="it" sz="1200">
                <a:solidFill>
                  <a:schemeClr val="dk1"/>
                </a:solidFill>
                <a:latin typeface="Times New Roman"/>
                <a:ea typeface="Times New Roman"/>
                <a:cs typeface="Times New Roman"/>
                <a:sym typeface="Times New Roman"/>
              </a:rPr>
              <a:t>Key statistics: 18,461,126 total tokens, 10,309,682 unique trigrams (3x more than bigrams), 83.0% hapax ratio (vs 67.9% for bigrams), mean frequency only 1.79. The much larger vocabulary explains the reduced parallel efficiency.</a:t>
            </a:r>
            <a:r>
              <a:rPr lang="it" sz="1200">
                <a:solidFill>
                  <a:schemeClr val="dk1"/>
                </a:solidFill>
                <a:latin typeface="Times New Roman"/>
                <a:ea typeface="Times New Roman"/>
                <a:cs typeface="Times New Roman"/>
                <a:sym typeface="Times New Roman"/>
              </a:rPr>
              <a:t>              </a:t>
            </a:r>
            <a:endParaRPr sz="1200">
              <a:solidFill>
                <a:schemeClr val="dk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1"/>
          <p:cNvSpPr txBox="1"/>
          <p:nvPr>
            <p:ph type="title"/>
          </p:nvPr>
        </p:nvSpPr>
        <p:spPr>
          <a:xfrm>
            <a:off x="698648" y="1206936"/>
            <a:ext cx="8261400" cy="705825"/>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1"/>
              </a:buClr>
              <a:buSzPts val="4500"/>
              <a:buFont typeface="Verdana"/>
              <a:buNone/>
            </a:pPr>
            <a:r>
              <a:rPr lang="it"/>
              <a:t>Conclusion</a:t>
            </a:r>
            <a:endParaRPr/>
          </a:p>
        </p:txBody>
      </p:sp>
      <p:sp>
        <p:nvSpPr>
          <p:cNvPr id="296" name="Google Shape;296;p41"/>
          <p:cNvSpPr txBox="1"/>
          <p:nvPr>
            <p:ph idx="1" type="body"/>
          </p:nvPr>
        </p:nvSpPr>
        <p:spPr>
          <a:xfrm>
            <a:off x="0" y="4956900"/>
            <a:ext cx="9264600" cy="186600"/>
          </a:xfrm>
          <a:prstGeom prst="rect">
            <a:avLst/>
          </a:prstGeom>
          <a:solidFill>
            <a:schemeClr val="lt1"/>
          </a:solid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rgbClr val="004C7E"/>
              </a:buClr>
              <a:buSzPts val="1000"/>
              <a:buNone/>
            </a:pPr>
            <a:r>
              <a:rPr lang="it" sz="1100"/>
              <a:t>Conclusione</a:t>
            </a:r>
            <a:endParaRPr sz="1100"/>
          </a:p>
        </p:txBody>
      </p:sp>
    </p:spTree>
  </p:cSld>
  <p:clrMapOvr>
    <a:masterClrMapping/>
  </p:clrMapOvr>
</p:sld>
</file>

<file path=ppt/theme/theme1.xml><?xml version="1.0" encoding="utf-8"?>
<a:theme xmlns:a="http://schemas.openxmlformats.org/drawingml/2006/main" xmlns:r="http://schemas.openxmlformats.org/officeDocument/2006/relationships" name="Template UniFI">
  <a:themeElements>
    <a:clrScheme name="UniFi">
      <a:dk1>
        <a:srgbClr val="000000"/>
      </a:dk1>
      <a:lt1>
        <a:srgbClr val="FEFFFF"/>
      </a:lt1>
      <a:dk2>
        <a:srgbClr val="000000"/>
      </a:dk2>
      <a:lt2>
        <a:srgbClr val="FFFFFF"/>
      </a:lt2>
      <a:accent1>
        <a:srgbClr val="004C7E"/>
      </a:accent1>
      <a:accent2>
        <a:srgbClr val="6D8AAF"/>
      </a:accent2>
      <a:accent3>
        <a:srgbClr val="455C79"/>
      </a:accent3>
      <a:accent4>
        <a:srgbClr val="273583"/>
      </a:accent4>
      <a:accent5>
        <a:srgbClr val="A64040"/>
      </a:accent5>
      <a:accent6>
        <a:srgbClr val="931B17"/>
      </a:accent6>
      <a:hlink>
        <a:srgbClr val="004C7E"/>
      </a:hlink>
      <a:folHlink>
        <a:srgbClr val="84010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